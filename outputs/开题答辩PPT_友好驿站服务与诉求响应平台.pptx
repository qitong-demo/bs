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4b93b33f1a4fe2" /><Relationship Type="http://schemas.openxmlformats.org/officeDocument/2006/relationships/extended-properties" Target="/docProps/app.xml" Id="R2bb32f2b28a242d8" /><Relationship Type="http://schemas.openxmlformats.org/officeDocument/2006/relationships/officeDocument" Target="/ppt/presentation.xml" Id="R950af8f1a2b8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c9c88a9f049ec"/>
  </p:sldMasterIdLst>
  <p:notesMasterIdLst>
    <p:notesMasterId xmlns:r="http://schemas.openxmlformats.org/officeDocument/2006/relationships" r:id="R5d8dc9601bae4d4d"/>
  </p:notesMasterIdLst>
  <p:sldIdLst>
    <p:sldId xmlns:r="http://schemas.openxmlformats.org/officeDocument/2006/relationships" id="256" r:id="Rccc1f4a5b01849ce"/>
    <p:sldId xmlns:r="http://schemas.openxmlformats.org/officeDocument/2006/relationships" id="257" r:id="R22e8b8b4b0864a88"/>
    <p:sldId xmlns:r="http://schemas.openxmlformats.org/officeDocument/2006/relationships" id="258" r:id="R5544c2442297421a"/>
    <p:sldId xmlns:r="http://schemas.openxmlformats.org/officeDocument/2006/relationships" id="259" r:id="Rf8ce7294dd6341c2"/>
    <p:sldId xmlns:r="http://schemas.openxmlformats.org/officeDocument/2006/relationships" id="260" r:id="R22e49da5cf1845ed"/>
    <p:sldId xmlns:r="http://schemas.openxmlformats.org/officeDocument/2006/relationships" id="261" r:id="R14c58e8454c948d7"/>
    <p:sldId xmlns:r="http://schemas.openxmlformats.org/officeDocument/2006/relationships" id="262" r:id="Rcf3aa891cb494a20"/>
    <p:sldId xmlns:r="http://schemas.openxmlformats.org/officeDocument/2006/relationships" id="263" r:id="Rb164011ab1e54a3b"/>
    <p:sldId xmlns:r="http://schemas.openxmlformats.org/officeDocument/2006/relationships" id="264" r:id="Rfffe1f9872134b80"/>
    <p:sldId xmlns:r="http://schemas.openxmlformats.org/officeDocument/2006/relationships" id="265" r:id="R3b903166a3824cb5"/>
    <p:sldId xmlns:r="http://schemas.openxmlformats.org/officeDocument/2006/relationships" id="266" r:id="Rcc44705ed0624e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ab25c291c4007" /><Relationship Type="http://schemas.openxmlformats.org/officeDocument/2006/relationships/slideMaster" Target="/ppt/slideMasters/slideMaster1.xml" Id="Rc51c9c88a9f049ec" /><Relationship Type="http://schemas.openxmlformats.org/officeDocument/2006/relationships/notesMaster" Target="/ppt/notesMasters/notesMaster1.xml" Id="R5d8dc9601bae4d4d" /><Relationship Type="http://schemas.openxmlformats.org/officeDocument/2006/relationships/presProps" Target="/ppt/presProps.xml" Id="Ra946fb2b95fd4a8d" /><Relationship Type="http://schemas.openxmlformats.org/officeDocument/2006/relationships/tableStyles" Target="/ppt/tableStyles.xml" Id="R45ed64f9b20b4fdc" /><Relationship Type="http://schemas.openxmlformats.org/officeDocument/2006/relationships/slide" Target="/ppt/slides/slide1.xml" Id="Rccc1f4a5b01849ce" /><Relationship Type="http://schemas.openxmlformats.org/officeDocument/2006/relationships/slide" Target="/ppt/slides/slide2.xml" Id="R22e8b8b4b0864a88" /><Relationship Type="http://schemas.openxmlformats.org/officeDocument/2006/relationships/slide" Target="/ppt/slides/slide3.xml" Id="R5544c2442297421a" /><Relationship Type="http://schemas.openxmlformats.org/officeDocument/2006/relationships/slide" Target="/ppt/slides/slide4.xml" Id="Rf8ce7294dd6341c2" /><Relationship Type="http://schemas.openxmlformats.org/officeDocument/2006/relationships/slide" Target="/ppt/slides/slide5.xml" Id="R22e49da5cf1845ed" /><Relationship Type="http://schemas.openxmlformats.org/officeDocument/2006/relationships/slide" Target="/ppt/slides/slide6.xml" Id="R14c58e8454c948d7" /><Relationship Type="http://schemas.openxmlformats.org/officeDocument/2006/relationships/slide" Target="/ppt/slides/slide7.xml" Id="Rcf3aa891cb494a20" /><Relationship Type="http://schemas.openxmlformats.org/officeDocument/2006/relationships/slide" Target="/ppt/slides/slide8.xml" Id="Rb164011ab1e54a3b" /><Relationship Type="http://schemas.openxmlformats.org/officeDocument/2006/relationships/slide" Target="/ppt/slides/slide9.xml" Id="Rfffe1f9872134b80" /><Relationship Type="http://schemas.openxmlformats.org/officeDocument/2006/relationships/slide" Target="/ppt/slides/slide10.xml" Id="R3b903166a3824cb5" /><Relationship Type="http://schemas.openxmlformats.org/officeDocument/2006/relationships/slide" Target="/ppt/slides/slide11.xml" Id="Rcc44705ed0624e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71ef4bff5949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76362fe3e45f0" /><Relationship Type="http://schemas.openxmlformats.org/officeDocument/2006/relationships/notesMaster" Target="/ppt/notesMasters/notesMaster1.xml" Id="R5bf7f07a906647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8698e7a67c4c12" /><Relationship Type="http://schemas.openxmlformats.org/officeDocument/2006/relationships/notesMaster" Target="/ppt/notesMasters/notesMaster1.xml" Id="Rf9a826608ebe46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2446f9fee4fe4" /><Relationship Type="http://schemas.openxmlformats.org/officeDocument/2006/relationships/notesMaster" Target="/ppt/notesMasters/notesMaster1.xml" Id="R206d01c5f640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4d3bf993ff41ab" /><Relationship Type="http://schemas.openxmlformats.org/officeDocument/2006/relationships/notesMaster" Target="/ppt/notesMasters/notesMaster1.xml" Id="Ra8086ca448dc49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01fa0e4374b37" /><Relationship Type="http://schemas.openxmlformats.org/officeDocument/2006/relationships/notesMaster" Target="/ppt/notesMasters/notesMaster1.xml" Id="Re82ff5ed06e34c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be4542cf54441e" /><Relationship Type="http://schemas.openxmlformats.org/officeDocument/2006/relationships/notesMaster" Target="/ppt/notesMasters/notesMaster1.xml" Id="R221a801f53624b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17be2eb42c4993" /><Relationship Type="http://schemas.openxmlformats.org/officeDocument/2006/relationships/notesMaster" Target="/ppt/notesMasters/notesMaster1.xml" Id="Ra4b0cf1d4e27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3a99bdca53492f" /><Relationship Type="http://schemas.openxmlformats.org/officeDocument/2006/relationships/notesMaster" Target="/ppt/notesMasters/notesMaster1.xml" Id="Rb54b99a9fe584d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af3e73ccb849f1" /><Relationship Type="http://schemas.openxmlformats.org/officeDocument/2006/relationships/notesMaster" Target="/ppt/notesMasters/notesMaster1.xml" Id="R5a78c8340e1c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737c748ef04697" /><Relationship Type="http://schemas.openxmlformats.org/officeDocument/2006/relationships/notesMaster" Target="/ppt/notesMasters/notesMaster1.xml" Id="Rce614841d67c40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c5e45bccba4588" /><Relationship Type="http://schemas.openxmlformats.org/officeDocument/2006/relationships/notesMaster" Target="/ppt/notesMasters/notesMaster1.xml" Id="R342b245574d440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384fe441e47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49a87e239f4700" /><Relationship Type="http://schemas.openxmlformats.org/officeDocument/2006/relationships/slideLayout" Target="/ppt/slideLayouts/slideLayout1.xml" Id="R0f5c9db64e3848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c9db64e3848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ef446d57464b" /><Relationship Type="http://schemas.openxmlformats.org/officeDocument/2006/relationships/notesSlide" Target="/ppt/notesSlides/notesSlide1.xml" Id="R2db31478822242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90bd49d4949af" /><Relationship Type="http://schemas.openxmlformats.org/officeDocument/2006/relationships/notesSlide" Target="/ppt/notesSlides/notesSlide2.xml" Id="Rbf50089ca21842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07236336c41c5" /><Relationship Type="http://schemas.openxmlformats.org/officeDocument/2006/relationships/notesSlide" Target="/ppt/notesSlides/notesSlide3.xml" Id="R2f64e99ec09649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15c0e95b94403" /><Relationship Type="http://schemas.openxmlformats.org/officeDocument/2006/relationships/notesSlide" Target="/ppt/notesSlides/notesSlide4.xml" Id="Rc3ac5c501966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52364dba4fe8" /><Relationship Type="http://schemas.openxmlformats.org/officeDocument/2006/relationships/image" Target="/ppt/media/image.png" Id="Rf9ee26dfee674c7e" /><Relationship Type="http://schemas.openxmlformats.org/officeDocument/2006/relationships/notesSlide" Target="/ppt/notesSlides/notesSlide5.xml" Id="Re89d0d331632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45e3487244a1d" /><Relationship Type="http://schemas.openxmlformats.org/officeDocument/2006/relationships/notesSlide" Target="/ppt/notesSlides/notesSlide6.xml" Id="R0bf99e2f077748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911af4a454d86" /><Relationship Type="http://schemas.openxmlformats.org/officeDocument/2006/relationships/notesSlide" Target="/ppt/notesSlides/notesSlide7.xml" Id="Rd0556c44494445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38f1c1774c47" /><Relationship Type="http://schemas.openxmlformats.org/officeDocument/2006/relationships/notesSlide" Target="/ppt/notesSlides/notesSlide8.xml" Id="R4d7641e328564a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ad41d96144aae" /><Relationship Type="http://schemas.openxmlformats.org/officeDocument/2006/relationships/image" Target="/ppt/media/image.jpeg" Id="R3a39e62f79104214" /><Relationship Type="http://schemas.openxmlformats.org/officeDocument/2006/relationships/notesSlide" Target="/ppt/notesSlides/notesSlide9.xml" Id="R4b3f60eac720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90acfff724fac" /><Relationship Type="http://schemas.openxmlformats.org/officeDocument/2006/relationships/notesSlide" Target="/ppt/notesSlides/notesSlide10.xml" Id="R8fdb94d4d54f4a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cba8e05bb4f07" /><Relationship Type="http://schemas.openxmlformats.org/officeDocument/2006/relationships/notesSlide" Target="/ppt/notesSlides/notesSlide11.xml" Id="Rb8eab2ae55964d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54EB61E-9172-4CEF-8152-961832F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哈尔滨信息工程学院 软件学院</a:t>
            </a:r>
          </a:p>
        </p:txBody>
      </p:sp>
      <p:sp>
        <p:nvSpPr>
          <p:cNvPr id="2" name="right-field">
            <a:extLst xmlns:a="http://schemas.openxmlformats.org/drawingml/2006/main">
              <a:ext uri="{FF2B5EF4-FFF2-40B4-BE49-F238E27FC236}">
                <a16:creationId xmlns:a16="http://schemas.microsoft.com/office/drawing/2014/main" id="{4BE65619-DE1E-4822-8273-AE6F4608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0"/>
            <a:ext cx="4610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1E9A0CF-ED5E-4531-8C0C-9A98C4F8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基于 SpringBoot + Vue 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630E9F-3A04-4552-AC3C-774B93F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781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新就业群体友好驿站服务与诉求响应平台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ECAA160-08B7-43FD-A8C6-F9BAF592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893A18-C7C4-494D-B548-F6E56C94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E74AC2-C5CE-490B-B41C-E0C2B955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学生：齐烔  |  学号：2023010719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专业班级：软件工程 软件23J05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指导教师：唐博海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BCC5D0-4C5B-4013-9639-2701B2A3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62050"/>
            <a:ext cx="285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服务可查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诉求可提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过程可跟踪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结果可评价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CFFE22-9B3E-449D-95D0-296A414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Spring Boot 3 / Vue 3 / MySQL / ECharts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83CF6C-12E8-498C-8ABD-816EAEC2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1851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AE915D4-B43B-4CBC-9C41-B30C3ADA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汇报结构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9E3B7F-1947-493C-AFA3-A72C18A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本次开题围绕“为什么做、做什么、怎么做、何时完成”展开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BFC513B-9BD9-4C8B-BB21-033E4B4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9A0DA16-4B8A-474E-9C19-6D6F2E5C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36B902-13DD-43C1-B036-C00B31A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E4422B-9A46-429B-8D7C-394B15F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669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研究背景与意义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83C80B-19C9-480A-A39D-03139E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说明选题的政策背景、用户痛点与应用价值</a:t>
            </a:r>
          </a:p>
        </p:txBody>
      </p:sp>
      <p:sp>
        <p:nvSpPr>
          <p:cNvPr id="8" name="row-rule">
            <a:extLst xmlns:a="http://schemas.openxmlformats.org/drawingml/2006/main">
              <a:ext uri="{FF2B5EF4-FFF2-40B4-BE49-F238E27FC236}">
                <a16:creationId xmlns:a16="http://schemas.microsoft.com/office/drawing/2014/main" id="{60002197-58EF-404C-8723-83923175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54DC5A-7552-432C-A560-52FB08B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513177C-17FA-4BDC-9D16-5E90D573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研究目标与内容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F529A96-E2D2-4334-BA69-F0E7D18C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明确平台服务对象、系统边界和核心任务</a:t>
            </a:r>
          </a:p>
        </p:txBody>
      </p:sp>
      <p:sp>
        <p:nvSpPr>
          <p:cNvPr id="12" name="row-rule">
            <a:extLst xmlns:a="http://schemas.openxmlformats.org/drawingml/2006/main">
              <a:ext uri="{FF2B5EF4-FFF2-40B4-BE49-F238E27FC236}">
                <a16:creationId xmlns:a16="http://schemas.microsoft.com/office/drawing/2014/main" id="{39B8DB57-9379-464A-B37A-8897272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9BBD629-A41E-4B7B-86E8-DF3EEFB0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3DFFCE4-371F-4598-BE44-201CBB02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33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系统设计方案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4F91EF-6BF4-401C-B7C5-2B0F7FFB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909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展示功能架构、业务流程、技术路线与数据设计</a:t>
            </a:r>
          </a:p>
        </p:txBody>
      </p:sp>
      <p:sp>
        <p:nvSpPr>
          <p:cNvPr id="16" name="row-rule">
            <a:extLst xmlns:a="http://schemas.openxmlformats.org/drawingml/2006/main">
              <a:ext uri="{FF2B5EF4-FFF2-40B4-BE49-F238E27FC236}">
                <a16:creationId xmlns:a16="http://schemas.microsoft.com/office/drawing/2014/main" id="{9CDA4EE4-CE84-47A9-8965-FEDF220A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7445D0-744C-4AC5-9BA7-6E775647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0BFED68-A976-4F1C-8DC4-16F03AE3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67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实施计划与成果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8B6288-D064-4765-8618-BC952F7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244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说明进度安排、预期成果、创新点与风险控制</a:t>
            </a:r>
          </a:p>
        </p:txBody>
      </p:sp>
      <p:sp>
        <p:nvSpPr>
          <p:cNvPr id="20" name="row-rule">
            <a:extLst xmlns:a="http://schemas.openxmlformats.org/drawingml/2006/main">
              <a:ext uri="{FF2B5EF4-FFF2-40B4-BE49-F238E27FC236}">
                <a16:creationId xmlns:a16="http://schemas.microsoft.com/office/drawing/2014/main" id="{19AA8AB4-710B-4769-A950-48CDEC60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6597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2485227F-076A-48CD-A409-B29FDB0C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背景与意义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FE1A48-BA1E-4DD5-9310-AF31DAD5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选题来自新就业群体服务保障和基层治理数字化的现实需求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ADC60F6-38B1-40B8-BF83-CCB7036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141FE94-6646-4489-B7DC-C46B598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DA26916B-A495-4892-BBB9-71BD058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2D1A61-8376-4E8F-A123-EE19176F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 8400 万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206421-C04E-4BBE-9BBE-545655B5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新就业形态劳动者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84912A-BDB3-4807-A56B-C2315E85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开题材料引用第九次全国职工队伍状况调查数据。</a:t>
            </a:r>
          </a:p>
        </p:txBody>
      </p:sp>
      <p:sp>
        <p:nvSpPr>
          <p:cNvPr id="9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C316E2DF-BE87-40ED-8AE1-08F0781D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9975E6-D4A3-4DE5-BA12-DA9AC6B7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4.02 亿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11639EB-F1B7-43C4-BF05-83A09EE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4322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全国职工总数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BEF7F76-DF34-40C3-A931-BC690260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147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群体规模决定公共服务覆盖和治理协同需求。</a:t>
            </a:r>
          </a:p>
        </p:txBody>
      </p:sp>
      <p:sp>
        <p:nvSpPr>
          <p:cNvPr id="13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0D350BC5-C902-4507-BEF7-B6C059D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52625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44200FD-3074-4A57-8BAF-9BC963A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114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闭环响应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9360756-8284-405B-A19D-F8898A1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服务治理重点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2C1229F-28F5-4302-A19D-11577F2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诉求提交、分派、处理、反馈和评价需要可追踪。</a:t>
            </a:r>
          </a:p>
        </p:txBody>
      </p:sp>
      <p:sp>
        <p:nvSpPr>
          <p:cNvPr id="17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35FCCFA0-115D-4C71-B1B0-3CAF63DD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781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704410-D722-4C36-9F5A-2FC08E74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数字平台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8D361B-91E8-41D3-80CC-56585E50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工程实现载体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D4BC806-F1A0-409C-9F78-26AC494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用信息化方式整合驿站资源、服务预约和数据统计。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EEF6480-FB5E-4F6A-AF7E-B69728F0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因此，本课题不是单纯做一个管理后台，而是把“驿站服务供给”和“劳动者诉求响应”放到同一个可管理、可统计、可评价的平台中。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D44716-55C5-4AE0-BCEA-867198B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材料来源：开题报告模板、任务书、课题申报表。</a:t>
            </a:r>
          </a:p>
        </p:txBody>
      </p:sp>
    </p:spTree>
    <p:extLst>
      <p:ext uri="{BB962C8B-B14F-4D97-AF65-F5344CB8AC3E}">
        <p14:creationId xmlns:p14="http://schemas.microsoft.com/office/powerpoint/2010/main" val="367855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2A65690-F384-4EF8-8390-33DE9F5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研究目标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39F117-17A7-4FDB-B27A-47D10A59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平台目标是让服务获取更便捷，让诉求处理更可控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FD45BA1-8205-4035-8A2E-A0B3ACD2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CB2E98-1898-4C13-8650-CC768D70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left-panel">
            <a:extLst xmlns:a="http://schemas.openxmlformats.org/drawingml/2006/main">
              <a:ext uri="{FF2B5EF4-FFF2-40B4-BE49-F238E27FC236}">
                <a16:creationId xmlns:a16="http://schemas.microsoft.com/office/drawing/2014/main" id="{40622374-B081-4AAF-9215-7D7C0D5C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72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98A11A-C524-473C-B8BE-62B4D89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用户侧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2731F118-39A1-4273-85F6-4C0A376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A526CE-3B88-416E-BC3D-8A3488A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查询附近友好驿站和服务项目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5EE91A80-F7CC-453B-9911-45E7CCA7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843930A-4247-44A2-888E-DFA6AAA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提交服务预约并查看审核结果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664BC095-DC9F-43AE-B0DA-9F31FD4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57AA63E-DDA8-4797-AA79-04B89097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提交诉求并跟踪处理进度</a:t>
            </a:r>
          </a:p>
        </p:txBody>
      </p:sp>
      <p:sp>
        <p:nvSpPr>
          <p:cNvPr id="13" name="dot">
            <a:extLst xmlns:a="http://schemas.openxmlformats.org/drawingml/2006/main">
              <a:ext uri="{FF2B5EF4-FFF2-40B4-BE49-F238E27FC236}">
                <a16:creationId xmlns:a16="http://schemas.microsoft.com/office/drawing/2014/main" id="{5952B66C-6F5E-4F3C-9A29-5EAF0714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5D587D5-912F-4A40-87C1-0E2EA4C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查看政策资讯、公告和活动信息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408C3CF8-79B9-44FE-89FA-25D95721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C0CA7AB-B24D-4EAF-A676-17A450B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3733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对驿站服务和诉求结果进行评价</a:t>
            </a:r>
          </a:p>
        </p:txBody>
      </p:sp>
      <p:sp>
        <p:nvSpPr>
          <p:cNvPr id="17" name="right-panel">
            <a:extLst xmlns:a="http://schemas.openxmlformats.org/drawingml/2006/main">
              <a:ext uri="{FF2B5EF4-FFF2-40B4-BE49-F238E27FC236}">
                <a16:creationId xmlns:a16="http://schemas.microsoft.com/office/drawing/2014/main" id="{8561B55B-9B05-4245-978F-2F911383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790700"/>
            <a:ext cx="59436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194D568-D336-4526-8BE7-72C9A7C2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管理侧</a:t>
            </a:r>
          </a:p>
        </p:txBody>
      </p:sp>
      <p:sp>
        <p:nvSpPr>
          <p:cNvPr id="19" name="dot">
            <a:extLst xmlns:a="http://schemas.openxmlformats.org/drawingml/2006/main">
              <a:ext uri="{FF2B5EF4-FFF2-40B4-BE49-F238E27FC236}">
                <a16:creationId xmlns:a16="http://schemas.microsoft.com/office/drawing/2014/main" id="{58D0C5F5-CAA5-4A84-B7AA-6F7ED29C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DF16094-BDD0-494C-B297-68F190E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统一维护驿站、服务、公告、活动等基础数据</a:t>
            </a:r>
          </a:p>
        </p:txBody>
      </p:sp>
      <p:sp>
        <p:nvSpPr>
          <p:cNvPr id="21" name="dot">
            <a:extLst xmlns:a="http://schemas.openxmlformats.org/drawingml/2006/main">
              <a:ext uri="{FF2B5EF4-FFF2-40B4-BE49-F238E27FC236}">
                <a16:creationId xmlns:a16="http://schemas.microsoft.com/office/drawing/2014/main" id="{9F763F8E-D528-46DD-A0CF-81D2ADD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2FFE06-7B9D-4638-ADD9-9683690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对预约进行通过、拒绝、完成或取消处理</a:t>
            </a:r>
          </a:p>
        </p:txBody>
      </p:sp>
      <p:sp>
        <p:nvSpPr>
          <p:cNvPr id="23" name="dot">
            <a:extLst xmlns:a="http://schemas.openxmlformats.org/drawingml/2006/main">
              <a:ext uri="{FF2B5EF4-FFF2-40B4-BE49-F238E27FC236}">
                <a16:creationId xmlns:a16="http://schemas.microsoft.com/office/drawing/2014/main" id="{F95E33CD-23CD-4875-8FCB-D31A110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3DF8550-5F69-427D-A9E9-21A1E6A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对诉求进行分派、受理、回复和办结</a:t>
            </a:r>
          </a:p>
        </p:txBody>
      </p:sp>
      <p:sp>
        <p:nvSpPr>
          <p:cNvPr id="25" name="dot">
            <a:extLst xmlns:a="http://schemas.openxmlformats.org/drawingml/2006/main">
              <a:ext uri="{FF2B5EF4-FFF2-40B4-BE49-F238E27FC236}">
                <a16:creationId xmlns:a16="http://schemas.microsoft.com/office/drawing/2014/main" id="{D1F486D5-2E85-402E-AF34-B3E577BC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C1D0784-9F76-4256-9C7A-AB3A51E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49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通过统计看板分析服务使用、高频诉求和办结率</a:t>
            </a:r>
          </a:p>
        </p:txBody>
      </p:sp>
    </p:spTree>
    <p:extLst>
      <p:ext uri="{BB962C8B-B14F-4D97-AF65-F5344CB8AC3E}">
        <p14:creationId xmlns:p14="http://schemas.microsoft.com/office/powerpoint/2010/main" val="12539696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3ACCA33E-2CA4-4A8B-A157-F54290F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功能架构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FC43D1-780D-4960-818F-CEBC87F4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系统功能按 7 个模块、21 个功能点组织，规模适合毕业设计实现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D071E8-A4F2-4302-BB34-4557D7A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62F980-A15B-43EE-8428-A6072F1E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e26dfee674c7e"/>
          <a:stretch xmlns:a="http://schemas.openxmlformats.org/drawingml/2006/main"/>
        </p:blipFill>
        <p:spPr>
          <a:xfrm xmlns:a="http://schemas.openxmlformats.org/drawingml/2006/main">
            <a:off x="533400" y="1664494"/>
            <a:ext cx="11125200" cy="45196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53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D9BB4E4-479E-425F-BC11-451836CF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核心业务流程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02D0524-FD1F-49A6-B3CC-D6D47F6C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两个核心流程支撑“服务供给”和“诉求闭环”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F8F51BB-5453-41D4-904A-8CD86CF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57ACEB-293A-4AD7-9A88-66D7C311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ag-dot">
            <a:extLst xmlns:a="http://schemas.openxmlformats.org/drawingml/2006/main">
              <a:ext uri="{FF2B5EF4-FFF2-40B4-BE49-F238E27FC236}">
                <a16:creationId xmlns:a16="http://schemas.microsoft.com/office/drawing/2014/main" id="{AC4F1FC0-DB4E-4DD8-9671-930118B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976E91-7597-4BEF-B60F-CAF5EB4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服务预约流程</a:t>
            </a:r>
          </a:p>
        </p:txBody>
      </p:sp>
      <p:sp>
        <p:nvSpPr>
          <p:cNvPr id="7" name="tag-dot">
            <a:extLst xmlns:a="http://schemas.openxmlformats.org/drawingml/2006/main">
              <a:ext uri="{FF2B5EF4-FFF2-40B4-BE49-F238E27FC236}">
                <a16:creationId xmlns:a16="http://schemas.microsoft.com/office/drawing/2014/main" id="{365C660B-EA6E-4096-9CF6-B8E07D3E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E73917-FD44-472D-B204-25CC5378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诉求响应流程</a:t>
            </a:r>
          </a:p>
        </p:txBody>
      </p:sp>
      <p:sp>
        <p:nvSpPr>
          <p:cNvPr id="9" name="step">
            <a:extLst xmlns:a="http://schemas.openxmlformats.org/drawingml/2006/main">
              <a:ext uri="{FF2B5EF4-FFF2-40B4-BE49-F238E27FC236}">
                <a16:creationId xmlns:a16="http://schemas.microsoft.com/office/drawing/2014/main" id="{CCD9D239-F18A-4504-9901-00E3398F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DD74F0-EEC6-4DFB-A8FE-CDBD2AAA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1. 登录系统</a:t>
            </a:r>
          </a:p>
        </p:txBody>
      </p:sp>
      <p:sp>
        <p:nvSpPr>
          <p:cNvPr id="11" name="step">
            <a:extLst xmlns:a="http://schemas.openxmlformats.org/drawingml/2006/main">
              <a:ext uri="{FF2B5EF4-FFF2-40B4-BE49-F238E27FC236}">
                <a16:creationId xmlns:a16="http://schemas.microsoft.com/office/drawing/2014/main" id="{60118316-8D11-4DAF-9CAD-3AFDC51F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74AE4E-9D81-475F-865E-D19D669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2. 查询附近驿站</a:t>
            </a:r>
          </a:p>
        </p:txBody>
      </p:sp>
      <p:sp>
        <p:nvSpPr>
          <p:cNvPr id="13" name="step">
            <a:extLst xmlns:a="http://schemas.openxmlformats.org/drawingml/2006/main">
              <a:ext uri="{FF2B5EF4-FFF2-40B4-BE49-F238E27FC236}">
                <a16:creationId xmlns:a16="http://schemas.microsoft.com/office/drawing/2014/main" id="{3A67004A-6E43-4214-8B97-86513CF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4D9CBF-34B5-4B80-B7AB-3650BAD1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 选择服务与时间段</a:t>
            </a:r>
          </a:p>
        </p:txBody>
      </p:sp>
      <p:sp>
        <p:nvSpPr>
          <p:cNvPr id="15" name="step">
            <a:extLst xmlns:a="http://schemas.openxmlformats.org/drawingml/2006/main">
              <a:ext uri="{FF2B5EF4-FFF2-40B4-BE49-F238E27FC236}">
                <a16:creationId xmlns:a16="http://schemas.microsoft.com/office/drawing/2014/main" id="{379B6737-DB26-44F1-A875-11F35AB9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88F584-3D05-4703-A085-9077FF52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 驿站管理员审核</a:t>
            </a:r>
          </a:p>
        </p:txBody>
      </p:sp>
      <p:sp>
        <p:nvSpPr>
          <p:cNvPr id="17" name="step">
            <a:extLst xmlns:a="http://schemas.openxmlformats.org/drawingml/2006/main">
              <a:ext uri="{FF2B5EF4-FFF2-40B4-BE49-F238E27FC236}">
                <a16:creationId xmlns:a16="http://schemas.microsoft.com/office/drawing/2014/main" id="{501EFFC7-4FB5-41A8-A9B4-1EEEBE4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71C3B21-AE2A-4DED-93E8-83FBEB5E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5. 用户查看结果</a:t>
            </a:r>
          </a:p>
        </p:txBody>
      </p:sp>
      <p:sp>
        <p:nvSpPr>
          <p:cNvPr id="19" name="step">
            <a:extLst xmlns:a="http://schemas.openxmlformats.org/drawingml/2006/main">
              <a:ext uri="{FF2B5EF4-FFF2-40B4-BE49-F238E27FC236}">
                <a16:creationId xmlns:a16="http://schemas.microsoft.com/office/drawing/2014/main" id="{7E5EFD14-F4DF-44CA-A6C7-D198417B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AA4934C-CA28-4862-BD6D-81CCD6A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6. 完成后归档</a:t>
            </a:r>
          </a:p>
        </p:txBody>
      </p:sp>
      <p:sp>
        <p:nvSpPr>
          <p:cNvPr id="21" name="step">
            <a:extLst xmlns:a="http://schemas.openxmlformats.org/drawingml/2006/main">
              <a:ext uri="{FF2B5EF4-FFF2-40B4-BE49-F238E27FC236}">
                <a16:creationId xmlns:a16="http://schemas.microsoft.com/office/drawing/2014/main" id="{04FB9FA4-9898-404C-BEB9-543D985E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A57FE62-8C1A-49B8-A8B5-AFEDEAB1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1. 提交诉求</a:t>
            </a:r>
          </a:p>
        </p:txBody>
      </p:sp>
      <p:sp>
        <p:nvSpPr>
          <p:cNvPr id="23" name="step">
            <a:extLst xmlns:a="http://schemas.openxmlformats.org/drawingml/2006/main">
              <a:ext uri="{FF2B5EF4-FFF2-40B4-BE49-F238E27FC236}">
                <a16:creationId xmlns:a16="http://schemas.microsoft.com/office/drawing/2014/main" id="{918CAACD-F588-4928-AF5B-FE61C395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D523136-671D-4FD4-BBCD-27EA97E3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003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2. 平台管理员查看</a:t>
            </a:r>
          </a:p>
        </p:txBody>
      </p:sp>
      <p:sp>
        <p:nvSpPr>
          <p:cNvPr id="25" name="step">
            <a:extLst xmlns:a="http://schemas.openxmlformats.org/drawingml/2006/main">
              <a:ext uri="{FF2B5EF4-FFF2-40B4-BE49-F238E27FC236}">
                <a16:creationId xmlns:a16="http://schemas.microsoft.com/office/drawing/2014/main" id="{4D49330A-E8BE-44FA-8215-6E7AF3BB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453AB4D-59DE-4A6D-BA2E-C3C319CE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3. 分派处理人员</a:t>
            </a:r>
          </a:p>
        </p:txBody>
      </p:sp>
      <p:sp>
        <p:nvSpPr>
          <p:cNvPr id="27" name="step">
            <a:extLst xmlns:a="http://schemas.openxmlformats.org/drawingml/2006/main">
              <a:ext uri="{FF2B5EF4-FFF2-40B4-BE49-F238E27FC236}">
                <a16:creationId xmlns:a16="http://schemas.microsoft.com/office/drawing/2014/main" id="{6496D844-CDFF-4C3F-8E14-402489B1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9097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29C9D97-6236-424B-A40A-B1B6793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48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4. 记录处理过程</a:t>
            </a:r>
          </a:p>
        </p:txBody>
      </p:sp>
      <p:sp>
        <p:nvSpPr>
          <p:cNvPr id="29" name="step">
            <a:extLst xmlns:a="http://schemas.openxmlformats.org/drawingml/2006/main">
              <a:ext uri="{FF2B5EF4-FFF2-40B4-BE49-F238E27FC236}">
                <a16:creationId xmlns:a16="http://schemas.microsoft.com/office/drawing/2014/main" id="{B97A5796-536A-4176-BBB1-B10D72D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D5BC6BF-145C-43B2-9D54-3F2C4F1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5. 填写办结结果</a:t>
            </a:r>
          </a:p>
        </p:txBody>
      </p:sp>
      <p:sp>
        <p:nvSpPr>
          <p:cNvPr id="31" name="step">
            <a:extLst xmlns:a="http://schemas.openxmlformats.org/drawingml/2006/main">
              <a:ext uri="{FF2B5EF4-FFF2-40B4-BE49-F238E27FC236}">
                <a16:creationId xmlns:a16="http://schemas.microsoft.com/office/drawing/2014/main" id="{F8E25E65-C094-43A6-A0B8-50ADEAF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38725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B31375F-796B-42CB-A865-982E648B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958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6. 用户评价反馈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A0D3283-38CF-4CBC-93A1-752E7A3A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预约流程强调服务资源的可用性和审核记录；诉求流程强调分派、处理、回复、评价的闭环留痕。</a:t>
            </a:r>
          </a:p>
        </p:txBody>
      </p:sp>
    </p:spTree>
    <p:extLst>
      <p:ext uri="{BB962C8B-B14F-4D97-AF65-F5344CB8AC3E}">
        <p14:creationId xmlns:p14="http://schemas.microsoft.com/office/powerpoint/2010/main" val="9971167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A44E94D-D6B1-4ED0-A57D-712DE58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技术路线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F22F62-3F5C-4D47-9F03-988EE2C3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技术路线采用成熟的前后端分离架构，便于实现和演示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67A5B9-69EE-4826-921F-1685D98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7657B3-6F4E-40E9-A134-92960EFE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cell">
            <a:extLst xmlns:a="http://schemas.openxmlformats.org/drawingml/2006/main">
              <a:ext uri="{FF2B5EF4-FFF2-40B4-BE49-F238E27FC236}">
                <a16:creationId xmlns:a16="http://schemas.microsoft.com/office/drawing/2014/main" id="{A4D6143A-1023-4BED-813D-56F2D01F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ell">
            <a:extLst xmlns:a="http://schemas.openxmlformats.org/drawingml/2006/main">
              <a:ext uri="{FF2B5EF4-FFF2-40B4-BE49-F238E27FC236}">
                <a16:creationId xmlns:a16="http://schemas.microsoft.com/office/drawing/2014/main" id="{F9E7F659-80A9-46DC-B89A-160AF7A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145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ell">
            <a:extLst xmlns:a="http://schemas.openxmlformats.org/drawingml/2006/main">
              <a:ext uri="{FF2B5EF4-FFF2-40B4-BE49-F238E27FC236}">
                <a16:creationId xmlns:a16="http://schemas.microsoft.com/office/drawing/2014/main" id="{8BFBAB15-428D-4CEF-B61A-A0E9E13A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BC79C2-CE53-4F8A-B439-FF85796E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前端表现层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585F66-D9BB-4CA0-8AE3-73637989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192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Vue 3 / Vite / Element Plus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C62FEA7-2D06-4169-88E3-13C47254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192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构建用户端、驿站管理端和后台管理页面</a:t>
            </a:r>
          </a:p>
        </p:txBody>
      </p:sp>
      <p:sp>
        <p:nvSpPr>
          <p:cNvPr id="11" name="cell">
            <a:extLst xmlns:a="http://schemas.openxmlformats.org/drawingml/2006/main">
              <a:ext uri="{FF2B5EF4-FFF2-40B4-BE49-F238E27FC236}">
                <a16:creationId xmlns:a16="http://schemas.microsoft.com/office/drawing/2014/main" id="{8F609395-E41C-44FB-B0FB-EA056E78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ell">
            <a:extLst xmlns:a="http://schemas.openxmlformats.org/drawingml/2006/main">
              <a:ext uri="{FF2B5EF4-FFF2-40B4-BE49-F238E27FC236}">
                <a16:creationId xmlns:a16="http://schemas.microsoft.com/office/drawing/2014/main" id="{80C58790-58E8-4581-A0DC-879213F0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ell">
            <a:extLst xmlns:a="http://schemas.openxmlformats.org/drawingml/2006/main">
              <a:ext uri="{FF2B5EF4-FFF2-40B4-BE49-F238E27FC236}">
                <a16:creationId xmlns:a16="http://schemas.microsoft.com/office/drawing/2014/main" id="{BBED4870-9DBC-41F7-87B2-960597D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37EB2A-CCA5-4FE4-8826-3CBAF2CC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交互与数据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61CB0AB-74E0-48D7-9874-6B67934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622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Axios / RESTful API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2CD2307-E26B-406F-A07D-A7E73AAE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完成页面请求、接口联调和统一响应处理</a:t>
            </a:r>
          </a:p>
        </p:txBody>
      </p:sp>
      <p:sp>
        <p:nvSpPr>
          <p:cNvPr id="17" name="cell">
            <a:extLst xmlns:a="http://schemas.openxmlformats.org/drawingml/2006/main">
              <a:ext uri="{FF2B5EF4-FFF2-40B4-BE49-F238E27FC236}">
                <a16:creationId xmlns:a16="http://schemas.microsoft.com/office/drawing/2014/main" id="{EF144917-74B1-4F23-BE00-9FB1D821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ell">
            <a:extLst xmlns:a="http://schemas.openxmlformats.org/drawingml/2006/main">
              <a:ext uri="{FF2B5EF4-FFF2-40B4-BE49-F238E27FC236}">
                <a16:creationId xmlns:a16="http://schemas.microsoft.com/office/drawing/2014/main" id="{AA27CE8C-D852-4363-A295-0461FB92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">
            <a:extLst xmlns:a="http://schemas.openxmlformats.org/drawingml/2006/main">
              <a:ext uri="{FF2B5EF4-FFF2-40B4-BE49-F238E27FC236}">
                <a16:creationId xmlns:a16="http://schemas.microsoft.com/office/drawing/2014/main" id="{9D7C4355-1A77-4C5F-9292-008569D0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B071CD-E79B-4006-A145-E680D053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后端业务层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3D63BB-20F7-4038-80BF-EFB67D62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051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Spring Boot 3 / Java 17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7C767CA-C9FA-4CE3-96D7-DAB9D4FE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051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提供认证、驿站、预约、诉求、公告、活动等业务接口</a:t>
            </a:r>
          </a:p>
        </p:txBody>
      </p:sp>
      <p:sp>
        <p:nvSpPr>
          <p:cNvPr id="23" name="cell">
            <a:extLst xmlns:a="http://schemas.openxmlformats.org/drawingml/2006/main">
              <a:ext uri="{FF2B5EF4-FFF2-40B4-BE49-F238E27FC236}">
                <a16:creationId xmlns:a16="http://schemas.microsoft.com/office/drawing/2014/main" id="{A015D8AE-61C2-44DD-A9AF-03A9356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ell">
            <a:extLst xmlns:a="http://schemas.openxmlformats.org/drawingml/2006/main">
              <a:ext uri="{FF2B5EF4-FFF2-40B4-BE49-F238E27FC236}">
                <a16:creationId xmlns:a16="http://schemas.microsoft.com/office/drawing/2014/main" id="{1E5D731B-CAE0-42AF-AA90-02399965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4335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">
            <a:extLst xmlns:a="http://schemas.openxmlformats.org/drawingml/2006/main">
              <a:ext uri="{FF2B5EF4-FFF2-40B4-BE49-F238E27FC236}">
                <a16:creationId xmlns:a16="http://schemas.microsoft.com/office/drawing/2014/main" id="{65539C75-846E-4741-900A-B42E97ED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A79A41-144C-4C0B-9848-126DA6F1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持久化层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A352B0BF-2281-412B-BE9D-A7375D3B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481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MyBatis-Plus / MySQL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DAD5EE2-BB9E-4C0D-B9B8-08DE1AF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4812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完成核心表设计、查询维护和业务数据存储</a:t>
            </a:r>
          </a:p>
        </p:txBody>
      </p:sp>
      <p:sp>
        <p:nvSpPr>
          <p:cNvPr id="29" name="cell">
            <a:extLst xmlns:a="http://schemas.openxmlformats.org/drawingml/2006/main">
              <a:ext uri="{FF2B5EF4-FFF2-40B4-BE49-F238E27FC236}">
                <a16:creationId xmlns:a16="http://schemas.microsoft.com/office/drawing/2014/main" id="{4EA865BA-651C-4366-A365-29BD286A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ell">
            <a:extLst xmlns:a="http://schemas.openxmlformats.org/drawingml/2006/main">
              <a:ext uri="{FF2B5EF4-FFF2-40B4-BE49-F238E27FC236}">
                <a16:creationId xmlns:a16="http://schemas.microsoft.com/office/drawing/2014/main" id="{E1865640-62B9-4A54-BE7B-42362921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863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ell">
            <a:extLst xmlns:a="http://schemas.openxmlformats.org/drawingml/2006/main">
              <a:ext uri="{FF2B5EF4-FFF2-40B4-BE49-F238E27FC236}">
                <a16:creationId xmlns:a16="http://schemas.microsoft.com/office/drawing/2014/main" id="{8DDD580A-EEA5-4F3A-B8A2-BCDA116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516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BBEDCC9-0CED-4CAA-A94C-6B713A71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91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统计展示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CEB19EF-3173-4936-AC7A-3E8CF13E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9107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ECharts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327FFDE-47C2-4856-AD43-F54A5DA8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呈现服务人次、诉求数量、办结率等可视化指标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3AF4B8B3-6656-4D8F-A174-863AE1AF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当前项目代码已包含 Vue 前端、Spring Boot 后端和统计看板雏形，开题后可继续完善数据库持久化、权限控制和测试文档。</a:t>
            </a:r>
          </a:p>
        </p:txBody>
      </p:sp>
    </p:spTree>
    <p:extLst>
      <p:ext uri="{BB962C8B-B14F-4D97-AF65-F5344CB8AC3E}">
        <p14:creationId xmlns:p14="http://schemas.microsoft.com/office/powerpoint/2010/main" val="1352617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E236B493-FEA2-4C45-8A03-2F6736D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数据库与接口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95CFF8-C58E-47B4-8D75-DA62C134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数据设计围绕用户、驿站、预约、诉求和内容运营展开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F292797-6DF5-4187-8257-FB163959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BCF9B74-0D73-400D-98E4-06CA89CF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4483C6-C1CD-4616-A749-12F0D1A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约 14 张核心表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003836-21AA-48D8-ABA9-AA4EF848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sys_user、sys_role、station、station_service、service_appointment、appeal、appeal_record、appeal_evaluation、news、notice、activity、activity_signup、station_evaluation 等。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1CCDBA-FDBE-4B75-8F8F-611BC707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接口覆盖 8 类业务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2A77C661-EEB1-4C58-AB19-FC5AB84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7AF44A-54FD-4312-9619-EDC46B9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认证：/api/auth/login、/api/auth/register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72DA210C-4C2A-4248-921B-B19436E0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25AF5C-9CC6-49EC-B923-49EB62C1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670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驿站：/api/station/page、/nearby、/{id}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E3E55D01-E6B8-4966-B93D-FA42F142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1F0DC48-517B-428D-A7E6-303BC6C2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预约：/api/appointment、/my</a:t>
            </a:r>
          </a:p>
        </p:txBody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898212C0-4EBC-46BD-9BD0-48114947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CCBB6D8-D2B7-425A-BB56-D30EA26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9575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诉求：/api/appeal、/my、/evaluate</a:t>
            </a:r>
          </a:p>
        </p:txBody>
      </p:sp>
      <p:sp>
        <p:nvSpPr>
          <p:cNvPr id="16" name="dot">
            <a:extLst xmlns:a="http://schemas.openxmlformats.org/drawingml/2006/main">
              <a:ext uri="{FF2B5EF4-FFF2-40B4-BE49-F238E27FC236}">
                <a16:creationId xmlns:a16="http://schemas.microsoft.com/office/drawing/2014/main" id="{D6A3D5C7-2AB1-464A-B65C-CFEF1F1F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86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143C342-1F24-4233-B217-8E2638DE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资讯/公告/活动/统计：列表、发布和看板接口</a:t>
            </a:r>
          </a:p>
        </p:txBody>
      </p:sp>
      <p:sp>
        <p:nvSpPr>
          <p:cNvPr id="18" name="logic">
            <a:extLst xmlns:a="http://schemas.openxmlformats.org/drawingml/2006/main">
              <a:ext uri="{FF2B5EF4-FFF2-40B4-BE49-F238E27FC236}">
                <a16:creationId xmlns:a16="http://schemas.microsoft.com/office/drawing/2014/main" id="{FC453DF5-BEA5-47C7-A2BB-589D959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61385DF-7B6A-4DB8-8E35-43A1D9F2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设计原则：核心业务表先支撑完整闭环，再通过状态字段、处理记录表和评价表保存过程证据；接口按业务模块拆分，便于前端页面联调和论文中分章节说明。</a:t>
            </a:r>
          </a:p>
        </p:txBody>
      </p:sp>
    </p:spTree>
    <p:extLst>
      <p:ext uri="{BB962C8B-B14F-4D97-AF65-F5344CB8AC3E}">
        <p14:creationId xmlns:p14="http://schemas.microsoft.com/office/powerpoint/2010/main" val="2452333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04C8A19-1CF1-495F-9CE9-B18E4F89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原型展示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4736474-BAE3-4A9A-B207-354ECEE6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原型页面已能体现主要业务入口和统计展示方式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43C23ED-6D02-41F8-B08D-6FF0E220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682DC1E-E157-41DD-B805-660DA46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9e62f79104214"/>
          <a:stretch xmlns:a="http://schemas.openxmlformats.org/drawingml/2006/main"/>
        </p:blipFill>
        <p:spPr>
          <a:xfrm xmlns:a="http://schemas.openxmlformats.org/drawingml/2006/main">
            <a:off x="936129" y="1600200"/>
            <a:ext cx="6509742" cy="4629150"/>
          </a:xfrm>
          <a:prstGeom xmlns:a="http://schemas.openxmlformats.org/drawingml/2006/main" prst="rect">
            <a:avLst/>
          </a:prstGeom>
        </p:spPr>
      </p:pic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474DF0AD-4C69-48F5-B39A-5933BBB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FD7587-4F1D-43F2-AE21-88160E6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14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已验证的展示面</a:t>
            </a:r>
          </a:p>
        </p:txBody>
      </p:sp>
      <p:sp>
        <p:nvSpPr>
          <p:cNvPr id="8" name="dot">
            <a:extLst xmlns:a="http://schemas.openxmlformats.org/drawingml/2006/main">
              <a:ext uri="{FF2B5EF4-FFF2-40B4-BE49-F238E27FC236}">
                <a16:creationId xmlns:a16="http://schemas.microsoft.com/office/drawing/2014/main" id="{370EEABA-A5ED-4E13-A678-DE17ED4E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84A379-E3D9-4E18-8B75-5D9DE2AF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194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附近驿站列表与地图区域</a:t>
            </a:r>
          </a:p>
        </p:txBody>
      </p:sp>
      <p:sp>
        <p:nvSpPr>
          <p:cNvPr id="10" name="dot">
            <a:extLst xmlns:a="http://schemas.openxmlformats.org/drawingml/2006/main">
              <a:ext uri="{FF2B5EF4-FFF2-40B4-BE49-F238E27FC236}">
                <a16:creationId xmlns:a16="http://schemas.microsoft.com/office/drawing/2014/main" id="{7F644E1D-A860-447C-832B-8E71B1B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BEE606-23B9-4D17-BBA9-31EC5515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956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服务预约、诉求反馈、政策资讯入口</a:t>
            </a:r>
          </a:p>
        </p:txBody>
      </p:sp>
      <p:sp>
        <p:nvSpPr>
          <p:cNvPr id="12" name="dot">
            <a:extLst xmlns:a="http://schemas.openxmlformats.org/drawingml/2006/main">
              <a:ext uri="{FF2B5EF4-FFF2-40B4-BE49-F238E27FC236}">
                <a16:creationId xmlns:a16="http://schemas.microsoft.com/office/drawing/2014/main" id="{FB9A418B-088D-4C8A-B178-B9770B51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4BA0A01-2828-446E-B427-CD4D816E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7190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预约记录与待处理诉求列表</a:t>
            </a:r>
          </a:p>
        </p:txBody>
      </p:sp>
      <p:sp>
        <p:nvSpPr>
          <p:cNvPr id="14" name="dot">
            <a:extLst xmlns:a="http://schemas.openxmlformats.org/drawingml/2006/main">
              <a:ext uri="{FF2B5EF4-FFF2-40B4-BE49-F238E27FC236}">
                <a16:creationId xmlns:a16="http://schemas.microsoft.com/office/drawing/2014/main" id="{2769B807-3C3F-404A-BF62-AB6EE30C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B18A11-8741-4804-889B-3145011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48150"/>
            <a:ext cx="2019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服务人次、诉求数量和办结率图表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3D5CA4-F6CE-4B10-8D4A-025EFFF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后续重点是把演示数据逐步替换为 MySQL 持久化数据，并补充管理员侧处理页面。</a:t>
            </a:r>
          </a:p>
        </p:txBody>
      </p:sp>
    </p:spTree>
    <p:extLst>
      <p:ext uri="{BB962C8B-B14F-4D97-AF65-F5344CB8AC3E}">
        <p14:creationId xmlns:p14="http://schemas.microsoft.com/office/powerpoint/2010/main" val="14633705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1D840CA0-01CD-420A-97C3-DC34F9A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进度安排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24ACCE-0F73-4B7B-B8E7-CED2910E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进度安排按“分析、设计、开发、测试、论文”推进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4751E4F-CCB2-4825-8F15-134064F7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69CB859-F3FC-4D7A-883A-1FB0853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78A0A99-E46F-4E52-BEA6-E9A3B4C7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第 1 阶段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4A7176-9AB3-4772-B77F-F6A21CC8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383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需求分析与资料整理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D8D498-45B9-49E5-B3D7-4447280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明确用户角色、业务流程、功能边界和参考文献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59974B4D-F415-432D-8570-70F9855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A052E6-FE42-449F-993E-E8F54016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第 2 阶段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3C1420-0332-47B4-A6D8-06548AD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384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概要设计与数据库设计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B2BC80-4AB9-43FC-B75A-9A285FC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完成功能结构、技术架构、核心表和接口草案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2E5F3743-EC9E-423F-A8C6-03F53F66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79CC8CE-D225-46A9-839B-56AF25A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第 3 阶段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7E71D7F-353F-4BF9-AC16-6EB195C6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385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系统开发与联调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8D78ADA-9B4F-4BD1-9C5E-D41AE9A6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实现认证、驿站、预约、诉求、资讯、活动和统计模块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2015D689-ABE3-4883-A801-4D0FFC7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7E5D5B6-8735-467C-B851-803BC52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第 4 阶段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3D98D9-92FF-477D-85CA-F24998EC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38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系统测试与优化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1EDE6D-1D8D-4D15-A09F-AAB4F094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767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进行功能测试、接口测试、异常处理和页面可用性优化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134FB3F6-E519-4C0C-99D8-811EDACF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8CD7546-B39D-48CE-8208-A87BDAA5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9F8A"/>
                </a:solidFill>
                <a:latin typeface="Microsoft YaHei"/>
                <a:ea typeface="Microsoft YaHei"/>
                <a:cs typeface="Microsoft YaHei"/>
              </a:rPr>
              <a:t>第 5 阶段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04346A2-5CB2-468D-9B78-AEDFF7C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8387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论文撰写与答辩准备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FD9E329-E92A-46F7-B4E8-DEFD6368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整理设计说明、测试结果、创新点和演示材料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7E39E8F-811C-4CD8-B6B1-A6960D34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0455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9C5E311C-AAEC-405E-90EE-4660CF40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创新点与预期成果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CB64985-B4CC-44EF-AD49-94C4AC1F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预期成果聚焦可运行系统、规范论文和可展示答辩材料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FE2B7D5-55C9-4BB2-A175-BFF41945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B673BD-BAA6-4BAE-B7E6-8A989084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block">
            <a:extLst xmlns:a="http://schemas.openxmlformats.org/drawingml/2006/main">
              <a:ext uri="{FF2B5EF4-FFF2-40B4-BE49-F238E27FC236}">
                <a16:creationId xmlns:a16="http://schemas.microsoft.com/office/drawing/2014/main" id="{6B43EDD4-9240-47A0-BC55-0C465761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C3ED106-7AB1-4DE6-9DA1-F65DA857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业务闭环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48C1BB-3330-4708-B1BE-48D08D01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把驿站查询、预约、诉求处理、评价反馈和统计分析贯通，避免只做静态信息展示。</a:t>
            </a:r>
          </a:p>
        </p:txBody>
      </p:sp>
      <p:sp>
        <p:nvSpPr>
          <p:cNvPr id="8" name="block">
            <a:extLst xmlns:a="http://schemas.openxmlformats.org/drawingml/2006/main">
              <a:ext uri="{FF2B5EF4-FFF2-40B4-BE49-F238E27FC236}">
                <a16:creationId xmlns:a16="http://schemas.microsoft.com/office/drawing/2014/main" id="{920B7E43-4DE9-4CBA-B9A2-F534ACF7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2880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AA5BD6-2303-47E6-B13D-041815CD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多角色协同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772C53-7720-481B-9311-78BA4C13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普通用户、驿站管理员、平台管理员职责清晰，权限和流程更贴近实际管理场景。</a:t>
            </a:r>
          </a:p>
        </p:txBody>
      </p:sp>
      <p:sp>
        <p:nvSpPr>
          <p:cNvPr id="11" name="block">
            <a:extLst xmlns:a="http://schemas.openxmlformats.org/drawingml/2006/main">
              <a:ext uri="{FF2B5EF4-FFF2-40B4-BE49-F238E27FC236}">
                <a16:creationId xmlns:a16="http://schemas.microsoft.com/office/drawing/2014/main" id="{79F1D5F7-8C07-4C6E-BA50-A9416378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2880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D53558-E1BE-4F34-958B-59861D4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336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数据支撑治理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42B020-F7DB-4805-ABCB-62867EC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通过诉求类型、区域、办结率、满意度等指标，为驿站服务优化提供依据。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93E386-2474-4ECE-BBA0-BEAB8DD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预期提交物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C3E37D92-02CA-4D4C-B963-5099951A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33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9453F0-3E31-4CB4-B7EA-98FFDA92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可运行的 Spring Boot + Vue 前后端分离系统</a:t>
            </a:r>
          </a:p>
        </p:txBody>
      </p:sp>
      <p:sp>
        <p:nvSpPr>
          <p:cNvPr id="17" name="dot">
            <a:extLst xmlns:a="http://schemas.openxmlformats.org/drawingml/2006/main">
              <a:ext uri="{FF2B5EF4-FFF2-40B4-BE49-F238E27FC236}">
                <a16:creationId xmlns:a16="http://schemas.microsoft.com/office/drawing/2014/main" id="{20D008A6-0E4A-42B0-93E5-9EBBBB5B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53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873E4C0-0621-4FBC-9723-98A92337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数据库设计、接口设计、功能测试和系统演示材料</a:t>
            </a:r>
          </a:p>
        </p:txBody>
      </p:sp>
      <p:sp>
        <p:nvSpPr>
          <p:cNvPr id="19" name="dot">
            <a:extLst xmlns:a="http://schemas.openxmlformats.org/drawingml/2006/main">
              <a:ext uri="{FF2B5EF4-FFF2-40B4-BE49-F238E27FC236}">
                <a16:creationId xmlns:a16="http://schemas.microsoft.com/office/drawing/2014/main" id="{F6A3EB27-8EA2-431D-8CA8-3B13F178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72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FB6B15A-42E0-4E74-980C-CCBF541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7924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毕业论文：需求分析、系统设计、实现、测试与总结展望</a:t>
            </a:r>
          </a:p>
        </p:txBody>
      </p:sp>
    </p:spTree>
    <p:extLst>
      <p:ext uri="{BB962C8B-B14F-4D97-AF65-F5344CB8AC3E}">
        <p14:creationId xmlns:p14="http://schemas.microsoft.com/office/powerpoint/2010/main" val="1001381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2026-07-10T06:44:14.8700000Z</dcterms:created>
  <dcterms:modified xsi:type="dcterms:W3CDTF">2026-07-10T06:44:14.8700000Z</dcterms:modified>
</coreProperties>
</file>
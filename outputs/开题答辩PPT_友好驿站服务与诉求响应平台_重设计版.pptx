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ep-field"/>
          <p:cNvSpPr>
            <a:spLocks noGrp="1"/>
          </p:cNvSpPr>
          <p:nvPr/>
        </p:nvSpPr>
        <p:spPr>
          <a:xfrm>
            <a:off x="0" y="0"/>
            <a:ext cx="7181850" cy="685800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3" name="image-field"/>
          <p:cNvSpPr>
            <a:spLocks noGrp="1"/>
          </p:cNvSpPr>
          <p:nvPr/>
        </p:nvSpPr>
        <p:spPr>
          <a:xfrm>
            <a:off x="7181850" y="0"/>
            <a:ext cx="5010150" cy="6858000"/>
          </a:xfrm>
          <a:prstGeom prst="rect">
            <a:avLst/>
          </a:prstGeom>
          <a:solidFill>
            <a:srgbClr val="EEF9F6"/>
          </a:solidFill>
          <a:ln w="0">
            <a:noFill/>
            <a:prstDash val="solid"/>
          </a:ln>
        </p:spPr>
      </p:sp>
      <p:sp>
        <p:nvSpPr>
          <p:cNvPr id="4" name="screen-frame"/>
          <p:cNvSpPr>
            <a:spLocks noGrp="1"/>
          </p:cNvSpPr>
          <p:nvPr/>
        </p:nvSpPr>
        <p:spPr>
          <a:xfrm>
            <a:off x="7696200" y="781050"/>
            <a:ext cx="3790950" cy="5314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24861" r="24861"/>
          <a:stretch>
            <a:fillRect/>
          </a:stretch>
        </p:blipFill>
        <p:spPr>
          <a:xfrm>
            <a:off x="7867650" y="990600"/>
            <a:ext cx="3448050" cy="4876800"/>
          </a:xfrm>
          <a:prstGeom prst="rect">
            <a:avLst/>
          </a:prstGeom>
        </p:spPr>
      </p:pic>
      <p:sp>
        <p:nvSpPr>
          <p:cNvPr id="5" name="text"/>
          <p:cNvSpPr>
            <a:spLocks noGrp="1"/>
          </p:cNvSpPr>
          <p:nvPr/>
        </p:nvSpPr>
        <p:spPr>
          <a:xfrm>
            <a:off x="609600" y="4953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BDE8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DE8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哈尔滨信息工程学院 / 软件学院</a:t>
            </a:r>
            <a:endParaRPr sz="1350" b="1">
              <a:solidFill>
                <a:srgbClr val="BDE8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abel"/>
          <p:cNvSpPr>
            <a:spLocks noGrp="1"/>
          </p:cNvSpPr>
          <p:nvPr/>
        </p:nvSpPr>
        <p:spPr>
          <a:xfrm>
            <a:off x="609600" y="1219200"/>
            <a:ext cx="1104900" cy="285750"/>
          </a:xfrm>
          <a:prstGeom prst="roundRect">
            <a:avLst>
              <a:gd name="adj" fmla="val 26667"/>
            </a:avLst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742950" y="12763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开题答辩</a:t>
            </a:r>
            <a:endParaRPr sz="105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09600" y="1790700"/>
            <a:ext cx="561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SpringBoot + Vue 的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09600" y="2400300"/>
            <a:ext cx="5905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新就业群体友好驿站服务与诉求响应平台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09600" y="37338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75" b="1">
                <a:solidFill>
                  <a:srgbClr val="8FF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>
                <a:solidFill>
                  <a:srgbClr val="8FF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设计与实现</a:t>
            </a:r>
            <a:endParaRPr sz="3375" b="1">
              <a:solidFill>
                <a:srgbClr val="8FF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ccent"/>
          <p:cNvSpPr>
            <a:spLocks noGrp="1"/>
          </p:cNvSpPr>
          <p:nvPr/>
        </p:nvSpPr>
        <p:spPr>
          <a:xfrm>
            <a:off x="609600" y="4610100"/>
            <a:ext cx="876300" cy="47625"/>
          </a:xfrm>
          <a:prstGeom prst="rect">
            <a:avLst/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09600" y="49720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D9F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D9F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学生：齐烔   学号：2023010719</a:t>
            </a:r>
            <a:endParaRPr sz="1650" b="0">
              <a:solidFill>
                <a:srgbClr val="D9F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D9F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D9F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专业班级：软件工程 软件23J05</a:t>
            </a:r>
            <a:endParaRPr sz="1650" b="0">
              <a:solidFill>
                <a:srgbClr val="D9F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D9F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D9F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指导教师：唐博海</a:t>
            </a:r>
            <a:endParaRPr sz="1650" b="0">
              <a:solidFill>
                <a:srgbClr val="D9F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609600" y="6115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A8D7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8D7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服务可查 / 诉求可提 / 过程可跟踪 / 结果可评价</a:t>
            </a:r>
            <a:endParaRPr sz="1350" b="0">
              <a:solidFill>
                <a:srgbClr val="A8D7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11049000" y="62103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汇报结构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答辩逻辑从选题价值推进到可落地方案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533400" y="160020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让老师快速判断：题目有现实意义、系统边界清楚、技术路线可实现、进度安排可控。</a:t>
            </a:r>
            <a:endParaRPr sz="15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85800" y="207645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55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600200" y="21145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</a:t>
            </a:r>
            <a:endParaRPr sz="210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000500" y="2143125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新就业群体服务保障、友好驿站建设和诉求响应需要数字化支撑。</a:t>
            </a:r>
            <a:endParaRPr sz="15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genda-rule"/>
          <p:cNvSpPr>
            <a:spLocks noGrp="1"/>
          </p:cNvSpPr>
          <p:nvPr/>
        </p:nvSpPr>
        <p:spPr>
          <a:xfrm>
            <a:off x="685800" y="2686050"/>
            <a:ext cx="10287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85800" y="291465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55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1600200" y="29527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</a:t>
            </a:r>
            <a:endParaRPr sz="210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0" y="2981325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围绕驿站查询、服务预约、诉求闭环、政策活动和统计分析设计系统。</a:t>
            </a:r>
            <a:endParaRPr sz="15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genda-rule"/>
          <p:cNvSpPr>
            <a:spLocks noGrp="1"/>
          </p:cNvSpPr>
          <p:nvPr/>
        </p:nvSpPr>
        <p:spPr>
          <a:xfrm>
            <a:off x="685800" y="3524250"/>
            <a:ext cx="10287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685800" y="375285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55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1600200" y="3790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210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4000500" y="3819525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 Vue 3 + Spring Boot + MySQL 的前后端分离工程路线。</a:t>
            </a:r>
            <a:endParaRPr sz="15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genda-rule"/>
          <p:cNvSpPr>
            <a:spLocks noGrp="1"/>
          </p:cNvSpPr>
          <p:nvPr/>
        </p:nvSpPr>
        <p:spPr>
          <a:xfrm>
            <a:off x="685800" y="4362450"/>
            <a:ext cx="10287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685800" y="459105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55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1600200" y="46291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如何完成</a:t>
            </a:r>
            <a:endParaRPr sz="210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4000500" y="4657725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按需求分析、系统设计、开发联调、测试优化、论文答辩推进。</a:t>
            </a:r>
            <a:endParaRPr sz="15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genda-rule"/>
          <p:cNvSpPr>
            <a:spLocks noGrp="1"/>
          </p:cNvSpPr>
          <p:nvPr/>
        </p:nvSpPr>
        <p:spPr>
          <a:xfrm>
            <a:off x="685800" y="5200650"/>
            <a:ext cx="10287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背景与意义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选题价值来自大规模劳动者服务需求和基层治理闭环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metric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0" y="2038350"/>
            <a:ext cx="25717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0" name="metric-edg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6750" y="2038350"/>
            <a:ext cx="76200" cy="1543050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2485" y="2266950"/>
            <a:ext cx="213931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8400 </a:t>
            </a:r>
            <a:r>
              <a:rPr lang="zh-CN"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sz="292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71550" y="28194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新就业形态劳动者</a:t>
            </a:r>
            <a:endParaRPr sz="1575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33450" y="31623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材料引用第九次全国职工队伍状况调查</a:t>
            </a:r>
            <a:endParaRPr sz="12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etric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24250" y="2038350"/>
            <a:ext cx="23812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5" name="metric-edge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524250" y="2038350"/>
            <a:ext cx="76200" cy="1543050"/>
          </a:xfrm>
          <a:prstGeom prst="rect">
            <a:avLst/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790950" y="22669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4.02 亿</a:t>
            </a:r>
            <a:endParaRPr sz="292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790950" y="2819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全国职工总数</a:t>
            </a:r>
            <a:endParaRPr sz="1575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790950" y="31623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服务保障问题具有广泛社会背景</a:t>
            </a:r>
            <a:endParaRPr sz="12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etric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191250" y="2038350"/>
            <a:ext cx="238125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0" name="metric-edge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191250" y="2038350"/>
            <a:ext cx="76200" cy="1543050"/>
          </a:xfrm>
          <a:prstGeom prst="rect">
            <a:avLst/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21" name="text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457950" y="226695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一站式</a:t>
            </a:r>
            <a:endParaRPr sz="292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457950" y="2819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驿站资源整合</a:t>
            </a:r>
            <a:endParaRPr sz="1575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57950" y="31623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查询、预约、活动、评价统一入口</a:t>
            </a:r>
            <a:endParaRPr sz="12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etric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858250" y="2038350"/>
            <a:ext cx="26670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5" name="metric-edge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858250" y="2038350"/>
            <a:ext cx="76200" cy="1543050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26" name="text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124950" y="2266950"/>
            <a:ext cx="2133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闭环化</a:t>
            </a:r>
            <a:endParaRPr sz="292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124950" y="28194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诉求响应管理</a:t>
            </a:r>
            <a:endParaRPr sz="1575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124950" y="31623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提交、分派、处理、回复、评价留痕</a:t>
            </a:r>
            <a:endParaRPr sz="12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tatement"/>
          <p:cNvSpPr>
            <a:spLocks noGrp="1"/>
          </p:cNvSpPr>
          <p:nvPr/>
        </p:nvSpPr>
        <p:spPr>
          <a:xfrm>
            <a:off x="666750" y="4362450"/>
            <a:ext cx="10858500" cy="1047750"/>
          </a:xfrm>
          <a:prstGeom prst="roundRect">
            <a:avLst>
              <a:gd name="adj" fmla="val 7273"/>
            </a:avLst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30" name="text"/>
          <p:cNvSpPr>
            <a:spLocks noGrp="1"/>
          </p:cNvSpPr>
          <p:nvPr/>
        </p:nvSpPr>
        <p:spPr>
          <a:xfrm>
            <a:off x="1009650" y="4667250"/>
            <a:ext cx="994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本课题的关键价值，是把“友好驿站服务供给”和“新就业群体诉求响应”放到同一套可运行、可统计、可评价的系统里。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研究目标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系统目标可以概括为五个可验证的能力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goal-panel"/>
          <p:cNvSpPr>
            <a:spLocks noGrp="1"/>
          </p:cNvSpPr>
          <p:nvPr/>
        </p:nvSpPr>
        <p:spPr>
          <a:xfrm>
            <a:off x="685800" y="2000250"/>
            <a:ext cx="3905250" cy="3028950"/>
          </a:xfrm>
          <a:prstGeom prst="roundRect">
            <a:avLst>
              <a:gd name="adj" fmla="val 2516"/>
            </a:avLst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1028700" y="23241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1028700" y="2952750"/>
            <a:ext cx="2476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服务可查</a:t>
            </a:r>
            <a:endParaRPr sz="2550" b="1">
              <a:solidFill>
                <a:srgbClr val="DFF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诉求可提</a:t>
            </a:r>
            <a:endParaRPr sz="2550" b="1">
              <a:solidFill>
                <a:srgbClr val="DFF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过程可跟踪</a:t>
            </a:r>
            <a:endParaRPr sz="2550" b="1">
              <a:solidFill>
                <a:srgbClr val="DFF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结果可评价</a:t>
            </a:r>
            <a:endParaRPr sz="2550" b="1">
              <a:solidFill>
                <a:srgbClr val="DFF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FF7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数据可统计</a:t>
            </a:r>
            <a:endParaRPr sz="2550" b="1">
              <a:solidFill>
                <a:srgbClr val="DFF7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le-row"/>
          <p:cNvSpPr>
            <a:spLocks noGrp="1"/>
          </p:cNvSpPr>
          <p:nvPr/>
        </p:nvSpPr>
        <p:spPr>
          <a:xfrm>
            <a:off x="5143500" y="20383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5429250" y="2190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用户端</a:t>
            </a:r>
            <a:endParaRPr sz="17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219950" y="2171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查询驿站、预约服务、提交诉求、查看政策活动、评价服务结果。</a:t>
            </a:r>
            <a:endParaRPr sz="15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le-row"/>
          <p:cNvSpPr>
            <a:spLocks noGrp="1"/>
          </p:cNvSpPr>
          <p:nvPr/>
        </p:nvSpPr>
        <p:spPr>
          <a:xfrm>
            <a:off x="5143500" y="30289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5429250" y="3181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驿站管理员端</a:t>
            </a:r>
            <a:endParaRPr sz="17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7219950" y="3162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处理预约、维护服务、响应分派诉求、管理本驿站评价。</a:t>
            </a:r>
            <a:endParaRPr sz="15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le-row"/>
          <p:cNvSpPr>
            <a:spLocks noGrp="1"/>
          </p:cNvSpPr>
          <p:nvPr/>
        </p:nvSpPr>
        <p:spPr>
          <a:xfrm>
            <a:off x="5143500" y="40195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5429250" y="4171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平台后台端</a:t>
            </a:r>
            <a:endParaRPr sz="17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7219950" y="4152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维护基础数据、发布公告资讯、统计服务与诉求运行情况。</a:t>
            </a:r>
            <a:endParaRPr sz="1500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功能架构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功能结构保持 7 个模块、21 个功能点，覆盖用户端和管理端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image-frame"/>
          <p:cNvSpPr>
            <a:spLocks noGrp="1"/>
          </p:cNvSpPr>
          <p:nvPr/>
        </p:nvSpPr>
        <p:spPr>
          <a:xfrm>
            <a:off x="552450" y="1752600"/>
            <a:ext cx="11087100" cy="37338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5692" y="1885950"/>
            <a:ext cx="8440615" cy="3429000"/>
          </a:xfrm>
          <a:prstGeom prst="rect">
            <a:avLst/>
          </a:prstGeom>
        </p:spPr>
      </p:pic>
      <p:sp>
        <p:nvSpPr>
          <p:cNvPr id="10" name="label"/>
          <p:cNvSpPr>
            <a:spLocks noGrp="1"/>
          </p:cNvSpPr>
          <p:nvPr/>
        </p:nvSpPr>
        <p:spPr>
          <a:xfrm>
            <a:off x="933450" y="565785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DDF7EF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1066800" y="57150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个模块</a:t>
            </a:r>
            <a:endParaRPr sz="105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label"/>
          <p:cNvSpPr>
            <a:spLocks noGrp="1"/>
          </p:cNvSpPr>
          <p:nvPr/>
        </p:nvSpPr>
        <p:spPr>
          <a:xfrm>
            <a:off x="2247900" y="56578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DDF7EF"/>
          </a:solidFill>
          <a:ln w="0">
            <a:noFill/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2381250" y="5715000"/>
            <a:ext cx="1085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个功能点</a:t>
            </a:r>
            <a:endParaRPr sz="105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abel"/>
          <p:cNvSpPr>
            <a:spLocks noGrp="1"/>
          </p:cNvSpPr>
          <p:nvPr/>
        </p:nvSpPr>
        <p:spPr>
          <a:xfrm>
            <a:off x="3790950" y="5657850"/>
            <a:ext cx="1352550" cy="285750"/>
          </a:xfrm>
          <a:prstGeom prst="roundRect">
            <a:avLst>
              <a:gd name="adj" fmla="val 26667"/>
            </a:avLst>
          </a:prstGeom>
          <a:solidFill>
            <a:srgbClr val="DDF7EF"/>
          </a:solidFill>
          <a:ln w="0">
            <a:noFill/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3924300" y="5715000"/>
            <a:ext cx="1085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类用户角色</a:t>
            </a:r>
            <a:endParaRPr sz="105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核心流程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预约和诉求是系统最能体现业务闭环的两条主流程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text"/>
          <p:cNvSpPr>
            <a:spLocks noGrp="1"/>
          </p:cNvSpPr>
          <p:nvPr/>
        </p:nvSpPr>
        <p:spPr>
          <a:xfrm>
            <a:off x="819150" y="19812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服务预约流程</a:t>
            </a:r>
            <a:endParaRPr sz="2100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6705600" y="19812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诉求响应流程</a:t>
            </a:r>
            <a:endParaRPr sz="2100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tep"/>
          <p:cNvSpPr>
            <a:spLocks noGrp="1"/>
          </p:cNvSpPr>
          <p:nvPr/>
        </p:nvSpPr>
        <p:spPr>
          <a:xfrm>
            <a:off x="819150" y="2552700"/>
            <a:ext cx="3810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2" name="step-num"/>
          <p:cNvSpPr>
            <a:spLocks noGrp="1"/>
          </p:cNvSpPr>
          <p:nvPr/>
        </p:nvSpPr>
        <p:spPr>
          <a:xfrm>
            <a:off x="819150" y="25527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923925" y="262890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1352550" y="2638425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登录系统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tep"/>
          <p:cNvSpPr>
            <a:spLocks noGrp="1"/>
          </p:cNvSpPr>
          <p:nvPr/>
        </p:nvSpPr>
        <p:spPr>
          <a:xfrm>
            <a:off x="819150" y="3105150"/>
            <a:ext cx="3810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6" name="step-num"/>
          <p:cNvSpPr>
            <a:spLocks noGrp="1"/>
          </p:cNvSpPr>
          <p:nvPr/>
        </p:nvSpPr>
        <p:spPr>
          <a:xfrm>
            <a:off x="819150" y="31051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923925" y="31813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1352550" y="3190875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查询附近驿站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tep"/>
          <p:cNvSpPr>
            <a:spLocks noGrp="1"/>
          </p:cNvSpPr>
          <p:nvPr/>
        </p:nvSpPr>
        <p:spPr>
          <a:xfrm>
            <a:off x="819150" y="3657600"/>
            <a:ext cx="3810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0" name="step-num"/>
          <p:cNvSpPr>
            <a:spLocks noGrp="1"/>
          </p:cNvSpPr>
          <p:nvPr/>
        </p:nvSpPr>
        <p:spPr>
          <a:xfrm>
            <a:off x="819150" y="36576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923925" y="373380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1352550" y="3743325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选择服务与时间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tep"/>
          <p:cNvSpPr>
            <a:spLocks noGrp="1"/>
          </p:cNvSpPr>
          <p:nvPr/>
        </p:nvSpPr>
        <p:spPr>
          <a:xfrm>
            <a:off x="819150" y="4210050"/>
            <a:ext cx="3810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4" name="step-num"/>
          <p:cNvSpPr>
            <a:spLocks noGrp="1"/>
          </p:cNvSpPr>
          <p:nvPr/>
        </p:nvSpPr>
        <p:spPr>
          <a:xfrm>
            <a:off x="819150" y="421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25" name="text"/>
          <p:cNvSpPr>
            <a:spLocks noGrp="1"/>
          </p:cNvSpPr>
          <p:nvPr/>
        </p:nvSpPr>
        <p:spPr>
          <a:xfrm>
            <a:off x="923925" y="42862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1352550" y="4295775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管理员审核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tep"/>
          <p:cNvSpPr>
            <a:spLocks noGrp="1"/>
          </p:cNvSpPr>
          <p:nvPr/>
        </p:nvSpPr>
        <p:spPr>
          <a:xfrm>
            <a:off x="819150" y="4762500"/>
            <a:ext cx="3810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8" name="step-num"/>
          <p:cNvSpPr>
            <a:spLocks noGrp="1"/>
          </p:cNvSpPr>
          <p:nvPr/>
        </p:nvSpPr>
        <p:spPr>
          <a:xfrm>
            <a:off x="819150" y="47625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29" name="text"/>
          <p:cNvSpPr>
            <a:spLocks noGrp="1"/>
          </p:cNvSpPr>
          <p:nvPr/>
        </p:nvSpPr>
        <p:spPr>
          <a:xfrm>
            <a:off x="923925" y="483870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1352550" y="4848225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完成归档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tep"/>
          <p:cNvSpPr>
            <a:spLocks noGrp="1"/>
          </p:cNvSpPr>
          <p:nvPr/>
        </p:nvSpPr>
        <p:spPr>
          <a:xfrm>
            <a:off x="6705600" y="2552700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32" name="step-num"/>
          <p:cNvSpPr>
            <a:spLocks noGrp="1"/>
          </p:cNvSpPr>
          <p:nvPr/>
        </p:nvSpPr>
        <p:spPr>
          <a:xfrm>
            <a:off x="6705600" y="25527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33" name="text"/>
          <p:cNvSpPr>
            <a:spLocks noGrp="1"/>
          </p:cNvSpPr>
          <p:nvPr/>
        </p:nvSpPr>
        <p:spPr>
          <a:xfrm>
            <a:off x="6810375" y="262890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7239000" y="2638425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提交诉求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tep"/>
          <p:cNvSpPr>
            <a:spLocks noGrp="1"/>
          </p:cNvSpPr>
          <p:nvPr/>
        </p:nvSpPr>
        <p:spPr>
          <a:xfrm>
            <a:off x="6705600" y="3105150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36" name="step-num"/>
          <p:cNvSpPr>
            <a:spLocks noGrp="1"/>
          </p:cNvSpPr>
          <p:nvPr/>
        </p:nvSpPr>
        <p:spPr>
          <a:xfrm>
            <a:off x="6705600" y="31051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37" name="text"/>
          <p:cNvSpPr>
            <a:spLocks noGrp="1"/>
          </p:cNvSpPr>
          <p:nvPr/>
        </p:nvSpPr>
        <p:spPr>
          <a:xfrm>
            <a:off x="6810375" y="31813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"/>
          <p:cNvSpPr>
            <a:spLocks noGrp="1"/>
          </p:cNvSpPr>
          <p:nvPr/>
        </p:nvSpPr>
        <p:spPr>
          <a:xfrm>
            <a:off x="7239000" y="3190875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平台查看并分派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step"/>
          <p:cNvSpPr>
            <a:spLocks noGrp="1"/>
          </p:cNvSpPr>
          <p:nvPr/>
        </p:nvSpPr>
        <p:spPr>
          <a:xfrm>
            <a:off x="6705600" y="3657600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40" name="step-num"/>
          <p:cNvSpPr>
            <a:spLocks noGrp="1"/>
          </p:cNvSpPr>
          <p:nvPr/>
        </p:nvSpPr>
        <p:spPr>
          <a:xfrm>
            <a:off x="6705600" y="36576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41" name="text"/>
          <p:cNvSpPr>
            <a:spLocks noGrp="1"/>
          </p:cNvSpPr>
          <p:nvPr/>
        </p:nvSpPr>
        <p:spPr>
          <a:xfrm>
            <a:off x="6810375" y="373380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"/>
          <p:cNvSpPr>
            <a:spLocks noGrp="1"/>
          </p:cNvSpPr>
          <p:nvPr/>
        </p:nvSpPr>
        <p:spPr>
          <a:xfrm>
            <a:off x="7239000" y="3743325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处理人员受理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step"/>
          <p:cNvSpPr>
            <a:spLocks noGrp="1"/>
          </p:cNvSpPr>
          <p:nvPr/>
        </p:nvSpPr>
        <p:spPr>
          <a:xfrm>
            <a:off x="6705600" y="4210050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44" name="step-num"/>
          <p:cNvSpPr>
            <a:spLocks noGrp="1"/>
          </p:cNvSpPr>
          <p:nvPr/>
        </p:nvSpPr>
        <p:spPr>
          <a:xfrm>
            <a:off x="6705600" y="421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45" name="text"/>
          <p:cNvSpPr>
            <a:spLocks noGrp="1"/>
          </p:cNvSpPr>
          <p:nvPr/>
        </p:nvSpPr>
        <p:spPr>
          <a:xfrm>
            <a:off x="6810375" y="42862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"/>
          <p:cNvSpPr>
            <a:spLocks noGrp="1"/>
          </p:cNvSpPr>
          <p:nvPr/>
        </p:nvSpPr>
        <p:spPr>
          <a:xfrm>
            <a:off x="7239000" y="4295775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记录过程并办结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tep"/>
          <p:cNvSpPr>
            <a:spLocks noGrp="1"/>
          </p:cNvSpPr>
          <p:nvPr/>
        </p:nvSpPr>
        <p:spPr>
          <a:xfrm>
            <a:off x="6705600" y="4762500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48" name="step-num"/>
          <p:cNvSpPr>
            <a:spLocks noGrp="1"/>
          </p:cNvSpPr>
          <p:nvPr/>
        </p:nvSpPr>
        <p:spPr>
          <a:xfrm>
            <a:off x="6705600" y="47625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49" name="text"/>
          <p:cNvSpPr>
            <a:spLocks noGrp="1"/>
          </p:cNvSpPr>
          <p:nvPr/>
        </p:nvSpPr>
        <p:spPr>
          <a:xfrm>
            <a:off x="6810375" y="483870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"/>
          <p:cNvSpPr>
            <a:spLocks noGrp="1"/>
          </p:cNvSpPr>
          <p:nvPr/>
        </p:nvSpPr>
        <p:spPr>
          <a:xfrm>
            <a:off x="7239000" y="4848225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用户评价反馈</a:t>
            </a:r>
            <a:endParaRPr sz="13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bridge"/>
          <p:cNvSpPr>
            <a:spLocks noGrp="1"/>
          </p:cNvSpPr>
          <p:nvPr/>
        </p:nvSpPr>
        <p:spPr>
          <a:xfrm>
            <a:off x="5181600" y="2667000"/>
            <a:ext cx="685800" cy="2438400"/>
          </a:xfrm>
          <a:prstGeom prst="roundRect">
            <a:avLst>
              <a:gd name="adj" fmla="val 11111"/>
            </a:avLst>
          </a:prstGeom>
          <a:solidFill>
            <a:srgbClr val="DDF7EF"/>
          </a:solidFill>
          <a:ln w="0">
            <a:noFill/>
            <a:prstDash val="solid"/>
          </a:ln>
        </p:spPr>
      </p:sp>
      <p:sp>
        <p:nvSpPr>
          <p:cNvPr id="52" name="text"/>
          <p:cNvSpPr>
            <a:spLocks noGrp="1"/>
          </p:cNvSpPr>
          <p:nvPr/>
        </p:nvSpPr>
        <p:spPr>
          <a:xfrm>
            <a:off x="5314950" y="3390900"/>
            <a:ext cx="438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sz="187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留痕</a:t>
            </a:r>
            <a:endParaRPr sz="187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"/>
          <p:cNvSpPr>
            <a:spLocks noGrp="1"/>
          </p:cNvSpPr>
          <p:nvPr/>
        </p:nvSpPr>
        <p:spPr>
          <a:xfrm>
            <a:off x="800100" y="5695950"/>
            <a:ext cx="923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预约流程强调资源使用记录；诉求流程强调处理过程证据，两者共同支撑后台统计分析。</a:t>
            </a:r>
            <a:endParaRPr sz="180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技术路线选择成熟栈，降低实现风险并方便答辩演示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layer-name"/>
          <p:cNvSpPr>
            <a:spLocks noGrp="1"/>
          </p:cNvSpPr>
          <p:nvPr/>
        </p:nvSpPr>
        <p:spPr>
          <a:xfrm>
            <a:off x="857250" y="1809750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EF9F6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0" name="layer-tech"/>
          <p:cNvSpPr>
            <a:spLocks noGrp="1"/>
          </p:cNvSpPr>
          <p:nvPr/>
        </p:nvSpPr>
        <p:spPr>
          <a:xfrm>
            <a:off x="3105150" y="1809750"/>
            <a:ext cx="3238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1" name="layer-desc"/>
          <p:cNvSpPr>
            <a:spLocks noGrp="1"/>
          </p:cNvSpPr>
          <p:nvPr/>
        </p:nvSpPr>
        <p:spPr>
          <a:xfrm>
            <a:off x="6591300" y="18097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1085850" y="19335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前端表现层</a:t>
            </a:r>
            <a:endParaRPr sz="15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3352800" y="19335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/ Vite / Element Plus</a:t>
            </a:r>
            <a:endParaRPr sz="15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6858000" y="193357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构建用户端和后台管理端页面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layer-name"/>
          <p:cNvSpPr>
            <a:spLocks noGrp="1"/>
          </p:cNvSpPr>
          <p:nvPr/>
        </p:nvSpPr>
        <p:spPr>
          <a:xfrm>
            <a:off x="857250" y="2524125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6" name="layer-tech"/>
          <p:cNvSpPr>
            <a:spLocks noGrp="1"/>
          </p:cNvSpPr>
          <p:nvPr/>
        </p:nvSpPr>
        <p:spPr>
          <a:xfrm>
            <a:off x="3105150" y="2524125"/>
            <a:ext cx="3238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7" name="layer-desc"/>
          <p:cNvSpPr>
            <a:spLocks noGrp="1"/>
          </p:cNvSpPr>
          <p:nvPr/>
        </p:nvSpPr>
        <p:spPr>
          <a:xfrm>
            <a:off x="6591300" y="2524125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1085850" y="264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接口通信层</a:t>
            </a:r>
            <a:endParaRPr sz="15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3352800" y="26479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Axios / RESTful API</a:t>
            </a:r>
            <a:endParaRPr sz="15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6858000" y="264795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统一请求、响应封装和前后端联调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layer-name"/>
          <p:cNvSpPr>
            <a:spLocks noGrp="1"/>
          </p:cNvSpPr>
          <p:nvPr/>
        </p:nvSpPr>
        <p:spPr>
          <a:xfrm>
            <a:off x="857250" y="3238500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EF9F6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2" name="layer-tech"/>
          <p:cNvSpPr>
            <a:spLocks noGrp="1"/>
          </p:cNvSpPr>
          <p:nvPr/>
        </p:nvSpPr>
        <p:spPr>
          <a:xfrm>
            <a:off x="3105150" y="3238500"/>
            <a:ext cx="3238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3" name="layer-desc"/>
          <p:cNvSpPr>
            <a:spLocks noGrp="1"/>
          </p:cNvSpPr>
          <p:nvPr/>
        </p:nvSpPr>
        <p:spPr>
          <a:xfrm>
            <a:off x="6591300" y="323850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1085850" y="336232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后端业务层</a:t>
            </a:r>
            <a:endParaRPr sz="15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3352800" y="33623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Boot 3 / Java 17</a:t>
            </a:r>
            <a:endParaRPr sz="15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6858000" y="336232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实现认证、驿站、预约、诉求、资讯、活动和统计接口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layer-name"/>
          <p:cNvSpPr>
            <a:spLocks noGrp="1"/>
          </p:cNvSpPr>
          <p:nvPr/>
        </p:nvSpPr>
        <p:spPr>
          <a:xfrm>
            <a:off x="857250" y="3952875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8" name="layer-tech"/>
          <p:cNvSpPr>
            <a:spLocks noGrp="1"/>
          </p:cNvSpPr>
          <p:nvPr/>
        </p:nvSpPr>
        <p:spPr>
          <a:xfrm>
            <a:off x="3105150" y="3952875"/>
            <a:ext cx="3238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9" name="layer-desc"/>
          <p:cNvSpPr>
            <a:spLocks noGrp="1"/>
          </p:cNvSpPr>
          <p:nvPr/>
        </p:nvSpPr>
        <p:spPr>
          <a:xfrm>
            <a:off x="6591300" y="3952875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30" name="text"/>
          <p:cNvSpPr>
            <a:spLocks noGrp="1"/>
          </p:cNvSpPr>
          <p:nvPr/>
        </p:nvSpPr>
        <p:spPr>
          <a:xfrm>
            <a:off x="1085850" y="40767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数据持久层</a:t>
            </a:r>
            <a:endParaRPr sz="15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"/>
          <p:cNvSpPr>
            <a:spLocks noGrp="1"/>
          </p:cNvSpPr>
          <p:nvPr/>
        </p:nvSpPr>
        <p:spPr>
          <a:xfrm>
            <a:off x="3352800" y="40767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MyBatis-Plus / MySQL</a:t>
            </a:r>
            <a:endParaRPr sz="15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"/>
          <p:cNvSpPr>
            <a:spLocks noGrp="1"/>
          </p:cNvSpPr>
          <p:nvPr/>
        </p:nvSpPr>
        <p:spPr>
          <a:xfrm>
            <a:off x="6858000" y="40767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完成核心业务表存储、查询和维护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layer-name"/>
          <p:cNvSpPr>
            <a:spLocks noGrp="1"/>
          </p:cNvSpPr>
          <p:nvPr/>
        </p:nvSpPr>
        <p:spPr>
          <a:xfrm>
            <a:off x="857250" y="4667250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EEF9F6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34" name="layer-tech"/>
          <p:cNvSpPr>
            <a:spLocks noGrp="1"/>
          </p:cNvSpPr>
          <p:nvPr/>
        </p:nvSpPr>
        <p:spPr>
          <a:xfrm>
            <a:off x="3105150" y="4667250"/>
            <a:ext cx="3238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35" name="layer-desc"/>
          <p:cNvSpPr>
            <a:spLocks noGrp="1"/>
          </p:cNvSpPr>
          <p:nvPr/>
        </p:nvSpPr>
        <p:spPr>
          <a:xfrm>
            <a:off x="6591300" y="46672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36" name="text"/>
          <p:cNvSpPr>
            <a:spLocks noGrp="1"/>
          </p:cNvSpPr>
          <p:nvPr/>
        </p:nvSpPr>
        <p:spPr>
          <a:xfrm>
            <a:off x="1085850" y="47910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统计可视化</a:t>
            </a:r>
            <a:endParaRPr sz="15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"/>
          <p:cNvSpPr>
            <a:spLocks noGrp="1"/>
          </p:cNvSpPr>
          <p:nvPr/>
        </p:nvSpPr>
        <p:spPr>
          <a:xfrm>
            <a:off x="3352800" y="47910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ECharts</a:t>
            </a:r>
            <a:endParaRPr sz="15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"/>
          <p:cNvSpPr>
            <a:spLocks noGrp="1"/>
          </p:cNvSpPr>
          <p:nvPr/>
        </p:nvSpPr>
        <p:spPr>
          <a:xfrm>
            <a:off x="6858000" y="479107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展示服务人次、诉求数量、办结率和满意度指标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"/>
          <p:cNvSpPr>
            <a:spLocks noGrp="1"/>
          </p:cNvSpPr>
          <p:nvPr/>
        </p:nvSpPr>
        <p:spPr>
          <a:xfrm>
            <a:off x="857250" y="571500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现有项目代码已包含 Vue 前端、Spring Boot 后端和统计看板雏形，后续重点是数据库持久化、权限控制和测试完善。</a:t>
            </a:r>
            <a:endParaRPr sz="1725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数据与接口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数据模型围绕 5 类主对象展开，接口按业务模块拆分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data-group"/>
          <p:cNvSpPr>
            <a:spLocks noGrp="1"/>
          </p:cNvSpPr>
          <p:nvPr/>
        </p:nvSpPr>
        <p:spPr>
          <a:xfrm>
            <a:off x="742950" y="18669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971550" y="19621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用户权限</a:t>
            </a:r>
            <a:endParaRPr sz="14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2152650" y="196215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sys_user / sys_role / sys_user_role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ata-group"/>
          <p:cNvSpPr>
            <a:spLocks noGrp="1"/>
          </p:cNvSpPr>
          <p:nvPr/>
        </p:nvSpPr>
        <p:spPr>
          <a:xfrm>
            <a:off x="742950" y="24574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971550" y="25527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驿站服务</a:t>
            </a:r>
            <a:endParaRPr sz="14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2152650" y="25527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station / station_service / station_evaluation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ata-group"/>
          <p:cNvSpPr>
            <a:spLocks noGrp="1"/>
          </p:cNvSpPr>
          <p:nvPr/>
        </p:nvSpPr>
        <p:spPr>
          <a:xfrm>
            <a:off x="742950" y="30480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971550" y="31432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预约业务</a:t>
            </a:r>
            <a:endParaRPr sz="14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2152650" y="314325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service_appointment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ata-group"/>
          <p:cNvSpPr>
            <a:spLocks noGrp="1"/>
          </p:cNvSpPr>
          <p:nvPr/>
        </p:nvSpPr>
        <p:spPr>
          <a:xfrm>
            <a:off x="742950" y="36385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971550" y="37338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诉求闭环</a:t>
            </a:r>
            <a:endParaRPr sz="14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2152650" y="373380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appeal / appeal_record / appeal_evaluation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data-group"/>
          <p:cNvSpPr>
            <a:spLocks noGrp="1"/>
          </p:cNvSpPr>
          <p:nvPr/>
        </p:nvSpPr>
        <p:spPr>
          <a:xfrm>
            <a:off x="742950" y="42291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971550" y="43243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内容运营</a:t>
            </a:r>
            <a:endParaRPr sz="1425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2152650" y="4324350"/>
            <a:ext cx="2400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news / notice / activity / activity_signup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pi-panel"/>
          <p:cNvSpPr>
            <a:spLocks noGrp="1"/>
          </p:cNvSpPr>
          <p:nvPr/>
        </p:nvSpPr>
        <p:spPr>
          <a:xfrm>
            <a:off x="5715000" y="1866900"/>
            <a:ext cx="5105400" cy="2781300"/>
          </a:xfrm>
          <a:prstGeom prst="roundRect">
            <a:avLst>
              <a:gd name="adj" fmla="val 2740"/>
            </a:avLst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25" name="text"/>
          <p:cNvSpPr>
            <a:spLocks noGrp="1"/>
          </p:cNvSpPr>
          <p:nvPr/>
        </p:nvSpPr>
        <p:spPr>
          <a:xfrm>
            <a:off x="6057900" y="2190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接口模块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ullet-dot"/>
          <p:cNvSpPr>
            <a:spLocks noGrp="1"/>
          </p:cNvSpPr>
          <p:nvPr/>
        </p:nvSpPr>
        <p:spPr>
          <a:xfrm>
            <a:off x="6115050" y="28956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6343650" y="2819400"/>
            <a:ext cx="377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认证：登录、注册、角色识别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bullet-dot"/>
          <p:cNvSpPr>
            <a:spLocks noGrp="1"/>
          </p:cNvSpPr>
          <p:nvPr/>
        </p:nvSpPr>
        <p:spPr>
          <a:xfrm>
            <a:off x="6115050" y="32766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29" name="text"/>
          <p:cNvSpPr>
            <a:spLocks noGrp="1"/>
          </p:cNvSpPr>
          <p:nvPr/>
        </p:nvSpPr>
        <p:spPr>
          <a:xfrm>
            <a:off x="6343650" y="3200400"/>
            <a:ext cx="377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驿站：列表、附近查询、详情、维护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bullet-dot"/>
          <p:cNvSpPr>
            <a:spLocks noGrp="1"/>
          </p:cNvSpPr>
          <p:nvPr/>
        </p:nvSpPr>
        <p:spPr>
          <a:xfrm>
            <a:off x="6115050" y="36576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31" name="text"/>
          <p:cNvSpPr>
            <a:spLocks noGrp="1"/>
          </p:cNvSpPr>
          <p:nvPr/>
        </p:nvSpPr>
        <p:spPr>
          <a:xfrm>
            <a:off x="6343650" y="3581400"/>
            <a:ext cx="377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预约：提交、审核、我的预约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bullet-dot"/>
          <p:cNvSpPr>
            <a:spLocks noGrp="1"/>
          </p:cNvSpPr>
          <p:nvPr/>
        </p:nvSpPr>
        <p:spPr>
          <a:xfrm>
            <a:off x="6115050" y="40386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33" name="text"/>
          <p:cNvSpPr>
            <a:spLocks noGrp="1"/>
          </p:cNvSpPr>
          <p:nvPr/>
        </p:nvSpPr>
        <p:spPr>
          <a:xfrm>
            <a:off x="6343650" y="3962400"/>
            <a:ext cx="377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诉求：提交、我的诉求、评价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bullet-dot"/>
          <p:cNvSpPr>
            <a:spLocks noGrp="1"/>
          </p:cNvSpPr>
          <p:nvPr/>
        </p:nvSpPr>
        <p:spPr>
          <a:xfrm>
            <a:off x="6115050" y="44196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35" name="text"/>
          <p:cNvSpPr>
            <a:spLocks noGrp="1"/>
          </p:cNvSpPr>
          <p:nvPr/>
        </p:nvSpPr>
        <p:spPr>
          <a:xfrm>
            <a:off x="6343650" y="4343400"/>
            <a:ext cx="377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资讯、公告、活动、统计看板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principle"/>
          <p:cNvSpPr>
            <a:spLocks noGrp="1"/>
          </p:cNvSpPr>
          <p:nvPr/>
        </p:nvSpPr>
        <p:spPr>
          <a:xfrm>
            <a:off x="742950" y="5238750"/>
            <a:ext cx="10077450" cy="666750"/>
          </a:xfrm>
          <a:prstGeom prst="roundRect">
            <a:avLst>
              <a:gd name="adj" fmla="val 11429"/>
            </a:avLst>
          </a:prstGeom>
          <a:solidFill>
            <a:srgbClr val="DDF7EF"/>
          </a:solidFill>
          <a:ln w="0">
            <a:noFill/>
            <a:prstDash val="solid"/>
          </a:ln>
        </p:spPr>
      </p:sp>
      <p:sp>
        <p:nvSpPr>
          <p:cNvPr id="37" name="text"/>
          <p:cNvSpPr>
            <a:spLocks noGrp="1"/>
          </p:cNvSpPr>
          <p:nvPr/>
        </p:nvSpPr>
        <p:spPr>
          <a:xfrm>
            <a:off x="1028700" y="54483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设计原则：先保证核心闭环跑通，再通过状态字段、处理记录和评价数据形成论文中可说明、可测试、可演示的证据链。</a:t>
            </a:r>
            <a:endParaRPr sz="1650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原型与实现基础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当前原型已经具备首页看板、服务入口和统计展示基础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screen-frame"/>
          <p:cNvSpPr>
            <a:spLocks noGrp="1"/>
          </p:cNvSpPr>
          <p:nvPr/>
        </p:nvSpPr>
        <p:spPr>
          <a:xfrm>
            <a:off x="590550" y="1657350"/>
            <a:ext cx="7448550" cy="4591050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634" y="1847850"/>
            <a:ext cx="5920383" cy="4210050"/>
          </a:xfrm>
          <a:prstGeom prst="rect">
            <a:avLst/>
          </a:prstGeom>
        </p:spPr>
      </p:pic>
      <p:sp>
        <p:nvSpPr>
          <p:cNvPr id="10" name="evidence"/>
          <p:cNvSpPr>
            <a:spLocks noGrp="1"/>
          </p:cNvSpPr>
          <p:nvPr/>
        </p:nvSpPr>
        <p:spPr>
          <a:xfrm>
            <a:off x="8401050" y="1962150"/>
            <a:ext cx="2819400" cy="3067050"/>
          </a:xfrm>
          <a:prstGeom prst="roundRect">
            <a:avLst>
              <a:gd name="adj" fmla="val 2703"/>
            </a:avLst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8724900" y="22860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可展示内容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ullet-dot"/>
          <p:cNvSpPr>
            <a:spLocks noGrp="1"/>
          </p:cNvSpPr>
          <p:nvPr/>
        </p:nvSpPr>
        <p:spPr>
          <a:xfrm>
            <a:off x="8724900" y="29718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8953500" y="28956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附近驿站列表与地图区域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-dot"/>
          <p:cNvSpPr>
            <a:spLocks noGrp="1"/>
          </p:cNvSpPr>
          <p:nvPr/>
        </p:nvSpPr>
        <p:spPr>
          <a:xfrm>
            <a:off x="8724900" y="34290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8953500" y="33528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预约、诉求、政策、活动入口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ullet-dot"/>
          <p:cNvSpPr>
            <a:spLocks noGrp="1"/>
          </p:cNvSpPr>
          <p:nvPr/>
        </p:nvSpPr>
        <p:spPr>
          <a:xfrm>
            <a:off x="8724900" y="38862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8953500" y="38100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待处理诉求与预约记录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ullet-dot"/>
          <p:cNvSpPr>
            <a:spLocks noGrp="1"/>
          </p:cNvSpPr>
          <p:nvPr/>
        </p:nvSpPr>
        <p:spPr>
          <a:xfrm>
            <a:off x="8724900" y="43434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8953500" y="42672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服务人次和办结率统计图表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8439150" y="535305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后续完善方向：接入 MySQL 数据表、补充管理员处理页面、完善接口异常和测试记录。</a:t>
            </a:r>
            <a:endParaRPr sz="157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进度安排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进度按分析、设计、开发、测试、论文五步推进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phase"/>
          <p:cNvSpPr>
            <a:spLocks noGrp="1"/>
          </p:cNvSpPr>
          <p:nvPr/>
        </p:nvSpPr>
        <p:spPr>
          <a:xfrm>
            <a:off x="704850" y="2228850"/>
            <a:ext cx="1695450" cy="2381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933450" y="2495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933450" y="31432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endParaRPr sz="187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933450" y="3695700"/>
            <a:ext cx="121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用户角色、业务流程、功能边界、参考文献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hase"/>
          <p:cNvSpPr>
            <a:spLocks noGrp="1"/>
          </p:cNvSpPr>
          <p:nvPr/>
        </p:nvSpPr>
        <p:spPr>
          <a:xfrm>
            <a:off x="2847975" y="2228850"/>
            <a:ext cx="1695450" cy="2381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3076575" y="2495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3076575" y="31432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187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3076575" y="3695700"/>
            <a:ext cx="121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功能结构、技术架构、数据库和接口草案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hase"/>
          <p:cNvSpPr>
            <a:spLocks noGrp="1"/>
          </p:cNvSpPr>
          <p:nvPr/>
        </p:nvSpPr>
        <p:spPr>
          <a:xfrm>
            <a:off x="4991100" y="2228850"/>
            <a:ext cx="1695450" cy="2381250"/>
          </a:xfrm>
          <a:prstGeom prst="roundRect">
            <a:avLst>
              <a:gd name="adj" fmla="val 4494"/>
            </a:avLst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5219700" y="2495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8FF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8FF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700" b="1">
              <a:solidFill>
                <a:srgbClr val="8FF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5219700" y="31432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开发联调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5219700" y="3695700"/>
            <a:ext cx="121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6F4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D6F4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认证、驿站、预约、诉求、资讯、活动、统计</a:t>
            </a:r>
            <a:endParaRPr sz="1275" b="0">
              <a:solidFill>
                <a:srgbClr val="D6F4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phase"/>
          <p:cNvSpPr>
            <a:spLocks noGrp="1"/>
          </p:cNvSpPr>
          <p:nvPr/>
        </p:nvSpPr>
        <p:spPr>
          <a:xfrm>
            <a:off x="7134225" y="2228850"/>
            <a:ext cx="1695450" cy="2381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7362825" y="2495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7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7362825" y="31432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测试优化</a:t>
            </a:r>
            <a:endParaRPr sz="187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7362825" y="3695700"/>
            <a:ext cx="121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功能测试、接口测试、异常处理、页面可用性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phase"/>
          <p:cNvSpPr>
            <a:spLocks noGrp="1"/>
          </p:cNvSpPr>
          <p:nvPr/>
        </p:nvSpPr>
        <p:spPr>
          <a:xfrm>
            <a:off x="9277350" y="2228850"/>
            <a:ext cx="1695450" cy="2381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9505950" y="24955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70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"/>
          <p:cNvSpPr>
            <a:spLocks noGrp="1"/>
          </p:cNvSpPr>
          <p:nvPr/>
        </p:nvSpPr>
        <p:spPr>
          <a:xfrm>
            <a:off x="9505950" y="31432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论文答辩</a:t>
            </a:r>
            <a:endParaRPr sz="1875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9505950" y="3695700"/>
            <a:ext cx="121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设计说明、测试结果、系统演示、答辩材料</a:t>
            </a:r>
            <a:endParaRPr sz="127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762000" y="54102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当前适合进入“开发联调 + 数据库完善 + 论文材料同步整理”的阶段。</a:t>
            </a:r>
            <a:endParaRPr sz="1875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3" name="top-bar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创新点与预期成果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11182350" y="6153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7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1">
              <a:solidFill>
                <a:srgbClr val="0B57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rule"/>
          <p:cNvSpPr>
            <a:spLocks noGrp="1"/>
          </p:cNvSpPr>
          <p:nvPr/>
        </p:nvSpPr>
        <p:spPr>
          <a:xfrm>
            <a:off x="533400" y="6400800"/>
            <a:ext cx="10668000" cy="9525"/>
          </a:xfrm>
          <a:prstGeom prst="rect">
            <a:avLst/>
          </a:prstGeom>
          <a:solidFill>
            <a:srgbClr val="C9D8D4"/>
          </a:solidFill>
          <a:ln w="0">
            <a:noFill/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33400" y="7239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0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预期成果要能证明系统可运行、设计可解释、过程可验证</a:t>
            </a:r>
            <a:endParaRPr sz="2550" b="1">
              <a:solidFill>
                <a:srgbClr val="1020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accent"/>
          <p:cNvSpPr>
            <a:spLocks noGrp="1"/>
          </p:cNvSpPr>
          <p:nvPr/>
        </p:nvSpPr>
        <p:spPr>
          <a:xfrm>
            <a:off x="533400" y="1409700"/>
            <a:ext cx="876300" cy="47625"/>
          </a:xfrm>
          <a:prstGeom prst="rect">
            <a:avLst/>
          </a:prstGeom>
          <a:solidFill>
            <a:srgbClr val="0FAE96"/>
          </a:solidFill>
          <a:ln w="0">
            <a:noFill/>
            <a:prstDash val="solid"/>
          </a:ln>
        </p:spPr>
      </p:sp>
      <p:sp>
        <p:nvSpPr>
          <p:cNvPr id="9" name="innovation"/>
          <p:cNvSpPr>
            <a:spLocks noGrp="1"/>
          </p:cNvSpPr>
          <p:nvPr/>
        </p:nvSpPr>
        <p:spPr>
          <a:xfrm>
            <a:off x="704850" y="1924050"/>
            <a:ext cx="31623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971550" y="2228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业务闭环</a:t>
            </a:r>
            <a:endParaRPr sz="2100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971550" y="28003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把驿站服务、预约、诉求、评价和统计贯通，避免停留在静态信息展示。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innovation"/>
          <p:cNvSpPr>
            <a:spLocks noGrp="1"/>
          </p:cNvSpPr>
          <p:nvPr/>
        </p:nvSpPr>
        <p:spPr>
          <a:xfrm>
            <a:off x="4381500" y="1924050"/>
            <a:ext cx="3162300" cy="1809750"/>
          </a:xfrm>
          <a:prstGeom prst="roundRect">
            <a:avLst>
              <a:gd name="adj" fmla="val 4211"/>
            </a:avLst>
          </a:prstGeom>
          <a:solidFill>
            <a:srgbClr val="DDF7E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4648200" y="2228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多角色协同</a:t>
            </a:r>
            <a:endParaRPr sz="2100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648200" y="28003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普通用户、驿站管理员和平台管理员职责清晰，贴近实际服务管理场景。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innovation"/>
          <p:cNvSpPr>
            <a:spLocks noGrp="1"/>
          </p:cNvSpPr>
          <p:nvPr/>
        </p:nvSpPr>
        <p:spPr>
          <a:xfrm>
            <a:off x="8058150" y="1924050"/>
            <a:ext cx="31623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9D8D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8324850" y="2228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73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数据支撑</a:t>
            </a:r>
            <a:endParaRPr sz="2100" b="1">
              <a:solidFill>
                <a:srgbClr val="073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324850" y="28003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通过诉求类型、区域、办结率和满意度等指标辅助优化服务供给。</a:t>
            </a:r>
            <a:endParaRPr sz="1425" b="0">
              <a:solidFill>
                <a:srgbClr val="5D6A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eliverables"/>
          <p:cNvSpPr>
            <a:spLocks noGrp="1"/>
          </p:cNvSpPr>
          <p:nvPr/>
        </p:nvSpPr>
        <p:spPr>
          <a:xfrm>
            <a:off x="704850" y="4400550"/>
            <a:ext cx="10382250" cy="914400"/>
          </a:xfrm>
          <a:prstGeom prst="roundRect">
            <a:avLst>
              <a:gd name="adj" fmla="val 8333"/>
            </a:avLst>
          </a:prstGeom>
          <a:solidFill>
            <a:srgbClr val="073D3A"/>
          </a:solidFill>
          <a:ln w="0">
            <a:noFill/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1047750" y="4705350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最终交付：可运行系统、数据库与接口设计、测试记录、毕业论文、答辩演示材料。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704850" y="57531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FAE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请各位老师批评指正</a:t>
            </a:r>
            <a:endParaRPr sz="2550" b="1">
              <a:solidFill>
                <a:srgbClr val="0FAE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2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3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4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5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6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7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8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9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0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1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2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3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4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5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6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7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8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19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ags/tag20.xml><?xml version="1.0" encoding="utf-8"?>
<p:tagLst xmlns:p="http://schemas.openxmlformats.org/presentationml/2006/main">
  <p:tag name="KSO_WM_DIAGRAM_VIRTUALLY_FRAME" val="{&quot;height&quot;:121.5,&quot;left&quot;:52.5,&quot;top&quot;:160.5,&quot;width&quot;:85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2053</Words>
  <Application>WPS 演示</Application>
  <PresentationFormat>Converted Presentation</PresentationFormat>
  <Paragraphs>331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是极</cp:lastModifiedBy>
  <cp:revision>1</cp:revision>
  <dcterms:created xsi:type="dcterms:W3CDTF">2026-07-10T12:09:24Z</dcterms:created>
  <dcterms:modified xsi:type="dcterms:W3CDTF">2026-07-10T12:09:24Z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D68F3F6B9B244DFCB7A908D3552B5248_12</vt:lpwstr>
  </property>
</Properties>
</file>